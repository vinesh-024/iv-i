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94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3:50.047"/>
    </inkml:context>
    <inkml:brush xml:id="br0">
      <inkml:brushProperty name="width" value="0.035" units="cm"/>
      <inkml:brushProperty name="height" value="0.035" units="cm"/>
      <inkml:brushProperty name="ignorePressure" value="1"/>
    </inkml:brush>
  </inkml:definitions>
  <inkml:trace contextRef="#ctx0" brushRef="#br0">920 1,'1739'0,"-4389"0,2641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4:07.591"/>
    </inkml:context>
    <inkml:brush xml:id="br0">
      <inkml:brushProperty name="width" value="0.035" units="cm"/>
      <inkml:brushProperty name="height" value="0.035" units="cm"/>
      <inkml:brushProperty name="ignorePressure" value="1"/>
    </inkml:brush>
  </inkml:definitions>
  <inkml:trace contextRef="#ctx0" brushRef="#br0">0 1,'0'3051,"0"-6010,0 2958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4:31.922"/>
    </inkml:context>
    <inkml:brush xml:id="br0">
      <inkml:brushProperty name="width" value="0.035" units="cm"/>
      <inkml:brushProperty name="height" value="0.035" units="cm"/>
      <inkml:brushProperty name="ignorePressure" value="1"/>
    </inkml:brush>
  </inkml:definitions>
  <inkml:trace contextRef="#ctx0" brushRef="#br0">12216 0,'-12202'0,"12189"0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4:46.224"/>
    </inkml:context>
    <inkml:brush xml:id="br0">
      <inkml:brushProperty name="width" value="0.035" units="cm"/>
      <inkml:brushProperty name="height" value="0.035" units="cm"/>
      <inkml:brushProperty name="ignorePressure" value="1"/>
    </inkml:brush>
  </inkml:definitions>
  <inkml:trace contextRef="#ctx0" brushRef="#br0">0 0,'14916'0,"-28856"0,13930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5:11.372"/>
    </inkml:context>
    <inkml:brush xml:id="br0">
      <inkml:brushProperty name="width" value="0.035" units="cm"/>
      <inkml:brushProperty name="height" value="0.035" units="cm"/>
      <inkml:brushProperty name="ignorePressure" value="1"/>
    </inkml:brush>
  </inkml:definitions>
  <inkml:trace contextRef="#ctx0" brushRef="#br0">0 12,'0'2010,"0"-4032,0 6610,0-4587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5:16.299"/>
    </inkml:context>
    <inkml:brush xml:id="br0">
      <inkml:brushProperty name="width" value="0.035" units="cm"/>
      <inkml:brushProperty name="height" value="0.035" units="cm"/>
      <inkml:brushProperty name="ignorePressure" value="1"/>
    </inkml:brush>
  </inkml:definitions>
  <inkml:trace contextRef="#ctx0" brushRef="#br0">0 0,'0'1734,"0"-1727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5:37.251"/>
    </inkml:context>
    <inkml:brush xml:id="br0">
      <inkml:brushProperty name="width" value="0.035" units="cm"/>
      <inkml:brushProperty name="height" value="0.035" units="cm"/>
      <inkml:brushProperty name="ignorePressure" value="1"/>
    </inkml:brush>
  </inkml:definitions>
  <inkml:trace contextRef="#ctx0" brushRef="#br0">14 0,'1611'0,"-3235"0,3943 0,-3694 0,1366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1T18:35:51.984"/>
    </inkml:context>
    <inkml:brush xml:id="br0">
      <inkml:brushProperty name="width" value="0.035" units="cm"/>
      <inkml:brushProperty name="height" value="0.035" units="cm"/>
      <inkml:brushProperty name="ignorePressure" value="1"/>
    </inkml:brush>
  </inkml:definitions>
  <inkml:trace contextRef="#ctx0" brushRef="#br0">1579 1,'-1579'0,"3931"0,-2343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05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7" cy="10286999"/>
          </a:xfrm>
          <a:prstGeom prst="rect">
            <a:avLst/>
          </a:prstGeom>
        </p:spPr>
      </p:pic>
      <p:sp>
        <p:nvSpPr>
          <p:cNvPr id="2" name="Holder 2"/>
          <p:cNvSpPr>
            <a:spLocks noGrp="1"/>
          </p:cNvSpPr>
          <p:nvPr>
            <p:ph type="title"/>
          </p:nvPr>
        </p:nvSpPr>
        <p:spPr>
          <a:xfrm>
            <a:off x="1279532" y="850110"/>
            <a:ext cx="7877172" cy="1042625"/>
          </a:xfrm>
          <a:prstGeom prst="rect">
            <a:avLst/>
          </a:prstGeom>
        </p:spPr>
        <p:txBody>
          <a:bodyPr wrap="square" lIns="0" tIns="0" rIns="0" bIns="0">
            <a:spAutoFit/>
          </a:bodyPr>
          <a:lstStyle>
            <a:lvl1pPr>
              <a:defRPr sz="40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483155" y="1973552"/>
            <a:ext cx="13838555" cy="6163945"/>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7/31/2026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png"/><Relationship Id="rId18" Type="http://schemas.openxmlformats.org/officeDocument/2006/relationships/customXml" Target="../ink/ink8.xm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image" Target="../media/image11.png"/><Relationship Id="rId2" Type="http://schemas.openxmlformats.org/officeDocument/2006/relationships/image" Target="../media/image3.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4.xml"/><Relationship Id="rId19" Type="http://schemas.openxmlformats.org/officeDocument/2006/relationships/image" Target="../media/image12.png"/><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7" cy="10286999"/>
          </a:xfrm>
          <a:prstGeom prst="rect">
            <a:avLst/>
          </a:prstGeom>
        </p:spPr>
      </p:pic>
      <p:sp>
        <p:nvSpPr>
          <p:cNvPr id="3" name="object 3" descr="$PPTXTitle"/>
          <p:cNvSpPr txBox="1">
            <a:spLocks noGrp="1"/>
          </p:cNvSpPr>
          <p:nvPr>
            <p:ph type="title"/>
          </p:nvPr>
        </p:nvSpPr>
        <p:spPr>
          <a:xfrm>
            <a:off x="5331410" y="4278312"/>
            <a:ext cx="7275195" cy="574040"/>
          </a:xfrm>
          <a:prstGeom prst="rect">
            <a:avLst/>
          </a:prstGeom>
        </p:spPr>
        <p:txBody>
          <a:bodyPr vert="horz" wrap="square" lIns="0" tIns="12700" rIns="0" bIns="0" rtlCol="0">
            <a:spAutoFit/>
          </a:bodyPr>
          <a:lstStyle/>
          <a:p>
            <a:pPr marL="12700">
              <a:lnSpc>
                <a:spcPct val="100000"/>
              </a:lnSpc>
              <a:spcBef>
                <a:spcPts val="100"/>
              </a:spcBef>
            </a:pPr>
            <a:r>
              <a:rPr sz="3600" b="0" dirty="0">
                <a:latin typeface="Times New Roman"/>
                <a:cs typeface="Times New Roman"/>
              </a:rPr>
              <a:t>Department</a:t>
            </a:r>
            <a:r>
              <a:rPr sz="3600" b="0" spc="-125" dirty="0">
                <a:latin typeface="Times New Roman"/>
                <a:cs typeface="Times New Roman"/>
              </a:rPr>
              <a:t> </a:t>
            </a:r>
            <a:r>
              <a:rPr sz="3600" b="0" dirty="0">
                <a:latin typeface="Times New Roman"/>
                <a:cs typeface="Times New Roman"/>
              </a:rPr>
              <a:t>of</a:t>
            </a:r>
            <a:r>
              <a:rPr sz="3600" b="0" spc="-125" dirty="0">
                <a:latin typeface="Times New Roman"/>
                <a:cs typeface="Times New Roman"/>
              </a:rPr>
              <a:t> </a:t>
            </a:r>
            <a:r>
              <a:rPr sz="3600" b="0" dirty="0">
                <a:latin typeface="Times New Roman"/>
                <a:cs typeface="Times New Roman"/>
              </a:rPr>
              <a:t>Information</a:t>
            </a:r>
            <a:r>
              <a:rPr sz="3600" b="0" spc="-125" dirty="0">
                <a:latin typeface="Times New Roman"/>
                <a:cs typeface="Times New Roman"/>
              </a:rPr>
              <a:t> </a:t>
            </a:r>
            <a:r>
              <a:rPr sz="3600" b="0" spc="-10" dirty="0">
                <a:latin typeface="Times New Roman"/>
                <a:cs typeface="Times New Roman"/>
              </a:rPr>
              <a:t>Technology</a:t>
            </a:r>
            <a:endParaRPr sz="3600">
              <a:latin typeface="Times New Roman"/>
              <a:cs typeface="Times New Roman"/>
            </a:endParaRPr>
          </a:p>
        </p:txBody>
      </p:sp>
      <p:sp>
        <p:nvSpPr>
          <p:cNvPr id="4" name="object 4"/>
          <p:cNvSpPr txBox="1"/>
          <p:nvPr/>
        </p:nvSpPr>
        <p:spPr>
          <a:xfrm>
            <a:off x="4302710" y="5364162"/>
            <a:ext cx="10107930" cy="1072088"/>
          </a:xfrm>
          <a:prstGeom prst="rect">
            <a:avLst/>
          </a:prstGeom>
        </p:spPr>
        <p:txBody>
          <a:bodyPr vert="horz" wrap="square" lIns="0" tIns="12700" rIns="0" bIns="0" rtlCol="0">
            <a:spAutoFit/>
          </a:bodyPr>
          <a:lstStyle/>
          <a:p>
            <a:pPr marL="12700" algn="ctr">
              <a:lnSpc>
                <a:spcPct val="100000"/>
              </a:lnSpc>
              <a:spcBef>
                <a:spcPts val="100"/>
              </a:spcBef>
            </a:pPr>
            <a:r>
              <a:rPr lang="en-IN" sz="3400" b="1" dirty="0">
                <a:latin typeface="Arial Nova" panose="020B0504020202020204" pitchFamily="34" charset="0"/>
              </a:rPr>
              <a:t>Intelligent Medical Image Analysis with </a:t>
            </a:r>
          </a:p>
          <a:p>
            <a:pPr marL="12700" algn="ctr">
              <a:lnSpc>
                <a:spcPct val="100000"/>
              </a:lnSpc>
              <a:spcBef>
                <a:spcPts val="100"/>
              </a:spcBef>
            </a:pPr>
            <a:r>
              <a:rPr lang="en-IN" sz="3400" b="1" dirty="0">
                <a:latin typeface="Arial Nova" panose="020B0504020202020204" pitchFamily="34" charset="0"/>
              </a:rPr>
              <a:t>Automated Clinical Report Generation</a:t>
            </a:r>
            <a:endParaRPr sz="3400" b="1" dirty="0">
              <a:latin typeface="Arial Nova" panose="020B0504020202020204" pitchFamily="34" charset="0"/>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2630914442"/>
              </p:ext>
            </p:extLst>
          </p:nvPr>
        </p:nvGraphicFramePr>
        <p:xfrm>
          <a:off x="3528819" y="7342478"/>
          <a:ext cx="13047342" cy="1392555"/>
        </p:xfrm>
        <a:graphic>
          <a:graphicData uri="http://schemas.openxmlformats.org/drawingml/2006/table">
            <a:tbl>
              <a:tblPr firstRow="1" bandRow="1">
                <a:tableStyleId>{2D5ABB26-0587-4C30-8999-92F81FD0307C}</a:tableStyleId>
              </a:tblPr>
              <a:tblGrid>
                <a:gridCol w="2105660">
                  <a:extLst>
                    <a:ext uri="{9D8B030D-6E8A-4147-A177-3AD203B41FA5}">
                      <a16:colId xmlns:a16="http://schemas.microsoft.com/office/drawing/2014/main" val="20000"/>
                    </a:ext>
                  </a:extLst>
                </a:gridCol>
                <a:gridCol w="3002915">
                  <a:extLst>
                    <a:ext uri="{9D8B030D-6E8A-4147-A177-3AD203B41FA5}">
                      <a16:colId xmlns:a16="http://schemas.microsoft.com/office/drawing/2014/main" val="20001"/>
                    </a:ext>
                  </a:extLst>
                </a:gridCol>
                <a:gridCol w="2786379">
                  <a:extLst>
                    <a:ext uri="{9D8B030D-6E8A-4147-A177-3AD203B41FA5}">
                      <a16:colId xmlns:a16="http://schemas.microsoft.com/office/drawing/2014/main" val="20002"/>
                    </a:ext>
                  </a:extLst>
                </a:gridCol>
                <a:gridCol w="2672079">
                  <a:extLst>
                    <a:ext uri="{9D8B030D-6E8A-4147-A177-3AD203B41FA5}">
                      <a16:colId xmlns:a16="http://schemas.microsoft.com/office/drawing/2014/main" val="20003"/>
                    </a:ext>
                  </a:extLst>
                </a:gridCol>
                <a:gridCol w="2480309">
                  <a:extLst>
                    <a:ext uri="{9D8B030D-6E8A-4147-A177-3AD203B41FA5}">
                      <a16:colId xmlns:a16="http://schemas.microsoft.com/office/drawing/2014/main" val="20004"/>
                    </a:ext>
                  </a:extLst>
                </a:gridCol>
              </a:tblGrid>
              <a:tr h="458470">
                <a:tc>
                  <a:txBody>
                    <a:bodyPr/>
                    <a:lstStyle/>
                    <a:p>
                      <a:pPr marL="31750">
                        <a:lnSpc>
                          <a:spcPts val="3415"/>
                        </a:lnSpc>
                      </a:pPr>
                      <a:r>
                        <a:rPr sz="3100" b="1" dirty="0">
                          <a:latin typeface="Times New Roman"/>
                          <a:cs typeface="Times New Roman"/>
                        </a:rPr>
                        <a:t>NAME</a:t>
                      </a:r>
                      <a:r>
                        <a:rPr sz="3100" b="1" spc="80" dirty="0">
                          <a:latin typeface="Times New Roman"/>
                          <a:cs typeface="Times New Roman"/>
                        </a:rPr>
                        <a:t> </a:t>
                      </a:r>
                      <a:r>
                        <a:rPr sz="3100" b="1" spc="-50" dirty="0">
                          <a:latin typeface="Times New Roman"/>
                          <a:cs typeface="Times New Roman"/>
                        </a:rPr>
                        <a:t>:</a:t>
                      </a:r>
                      <a:endParaRPr sz="3100">
                        <a:latin typeface="Times New Roman"/>
                        <a:cs typeface="Times New Roman"/>
                      </a:endParaRPr>
                    </a:p>
                  </a:txBody>
                  <a:tcPr marL="0" marR="0" marT="0" marB="0"/>
                </a:tc>
                <a:tc>
                  <a:txBody>
                    <a:bodyPr/>
                    <a:lstStyle/>
                    <a:p>
                      <a:pPr marL="170815">
                        <a:lnSpc>
                          <a:spcPts val="3415"/>
                        </a:lnSpc>
                      </a:pPr>
                      <a:r>
                        <a:rPr lang="en-IN" sz="3100" spc="-10" dirty="0" err="1">
                          <a:latin typeface="Times New Roman"/>
                          <a:cs typeface="Times New Roman"/>
                        </a:rPr>
                        <a:t>M.Hrushikesh</a:t>
                      </a:r>
                      <a:endParaRPr sz="3100" dirty="0">
                        <a:latin typeface="Times New Roman"/>
                        <a:cs typeface="Times New Roman"/>
                      </a:endParaRPr>
                    </a:p>
                  </a:txBody>
                  <a:tcPr marL="0" marR="0" marT="0" marB="0"/>
                </a:tc>
                <a:tc>
                  <a:txBody>
                    <a:bodyPr/>
                    <a:lstStyle/>
                    <a:p>
                      <a:pPr marL="220345">
                        <a:lnSpc>
                          <a:spcPts val="3415"/>
                        </a:lnSpc>
                      </a:pPr>
                      <a:r>
                        <a:rPr lang="en-IN" sz="3100" spc="-10" dirty="0" err="1">
                          <a:latin typeface="Times New Roman"/>
                          <a:cs typeface="Times New Roman"/>
                        </a:rPr>
                        <a:t>N.Vinesh</a:t>
                      </a:r>
                      <a:endParaRPr sz="3100" dirty="0">
                        <a:latin typeface="Times New Roman"/>
                        <a:cs typeface="Times New Roman"/>
                      </a:endParaRPr>
                    </a:p>
                  </a:txBody>
                  <a:tcPr marL="0" marR="0" marT="0" marB="0"/>
                </a:tc>
                <a:tc>
                  <a:txBody>
                    <a:bodyPr/>
                    <a:lstStyle/>
                    <a:p>
                      <a:pPr marL="243204">
                        <a:lnSpc>
                          <a:spcPts val="3415"/>
                        </a:lnSpc>
                      </a:pPr>
                      <a:r>
                        <a:rPr lang="en-IN" sz="3100" spc="-10" dirty="0" err="1">
                          <a:latin typeface="Times New Roman"/>
                          <a:cs typeface="Times New Roman"/>
                        </a:rPr>
                        <a:t>N.Ramana</a:t>
                      </a:r>
                      <a:endParaRPr sz="3100" dirty="0">
                        <a:latin typeface="Times New Roman"/>
                        <a:cs typeface="Times New Roman"/>
                      </a:endParaRPr>
                    </a:p>
                  </a:txBody>
                  <a:tcPr marL="0" marR="0" marT="0" marB="0"/>
                </a:tc>
                <a:tc>
                  <a:txBody>
                    <a:bodyPr/>
                    <a:lstStyle/>
                    <a:p>
                      <a:pPr marL="203200">
                        <a:lnSpc>
                          <a:spcPts val="3415"/>
                        </a:lnSpc>
                      </a:pPr>
                      <a:r>
                        <a:rPr lang="en-IN" sz="3100" spc="-10" dirty="0" err="1">
                          <a:latin typeface="Times New Roman"/>
                          <a:cs typeface="Times New Roman"/>
                        </a:rPr>
                        <a:t>B.Mallesh</a:t>
                      </a:r>
                      <a:endParaRPr sz="3100" dirty="0">
                        <a:latin typeface="Times New Roman"/>
                        <a:cs typeface="Times New Roman"/>
                      </a:endParaRPr>
                    </a:p>
                  </a:txBody>
                  <a:tcPr marL="0" marR="0" marT="0" marB="0"/>
                </a:tc>
                <a:extLst>
                  <a:ext uri="{0D108BD9-81ED-4DB2-BD59-A6C34878D82A}">
                    <a16:rowId xmlns:a16="http://schemas.microsoft.com/office/drawing/2014/main" val="10000"/>
                  </a:ext>
                </a:extLst>
              </a:tr>
              <a:tr h="475615">
                <a:tc>
                  <a:txBody>
                    <a:bodyPr/>
                    <a:lstStyle/>
                    <a:p>
                      <a:pPr marL="31750">
                        <a:lnSpc>
                          <a:spcPts val="3554"/>
                        </a:lnSpc>
                      </a:pPr>
                      <a:r>
                        <a:rPr sz="3100" b="1" dirty="0">
                          <a:latin typeface="Times New Roman"/>
                          <a:cs typeface="Times New Roman"/>
                        </a:rPr>
                        <a:t>Roll</a:t>
                      </a:r>
                      <a:r>
                        <a:rPr sz="3100" b="1" spc="45" dirty="0">
                          <a:latin typeface="Times New Roman"/>
                          <a:cs typeface="Times New Roman"/>
                        </a:rPr>
                        <a:t> </a:t>
                      </a:r>
                      <a:r>
                        <a:rPr sz="3100" b="1" spc="-25" dirty="0">
                          <a:latin typeface="Times New Roman"/>
                          <a:cs typeface="Times New Roman"/>
                        </a:rPr>
                        <a:t>No:</a:t>
                      </a:r>
                      <a:endParaRPr sz="3100">
                        <a:latin typeface="Times New Roman"/>
                        <a:cs typeface="Times New Roman"/>
                      </a:endParaRPr>
                    </a:p>
                  </a:txBody>
                  <a:tcPr marL="0" marR="0" marT="0" marB="0"/>
                </a:tc>
                <a:tc>
                  <a:txBody>
                    <a:bodyPr/>
                    <a:lstStyle/>
                    <a:p>
                      <a:pPr marL="148590">
                        <a:lnSpc>
                          <a:spcPts val="3554"/>
                        </a:lnSpc>
                      </a:pPr>
                      <a:r>
                        <a:rPr sz="3100" spc="-10" dirty="0">
                          <a:latin typeface="Times New Roman"/>
                          <a:cs typeface="Times New Roman"/>
                        </a:rPr>
                        <a:t>23BDB1A66</a:t>
                      </a:r>
                      <a:r>
                        <a:rPr lang="en-IN" sz="3100" spc="-10" dirty="0">
                          <a:latin typeface="Times New Roman"/>
                          <a:cs typeface="Times New Roman"/>
                        </a:rPr>
                        <a:t>36</a:t>
                      </a:r>
                      <a:endParaRPr sz="3100" dirty="0">
                        <a:latin typeface="Times New Roman"/>
                        <a:cs typeface="Times New Roman"/>
                      </a:endParaRPr>
                    </a:p>
                  </a:txBody>
                  <a:tcPr marL="0" marR="0" marT="0" marB="0"/>
                </a:tc>
                <a:tc>
                  <a:txBody>
                    <a:bodyPr/>
                    <a:lstStyle/>
                    <a:p>
                      <a:pPr marL="220345">
                        <a:lnSpc>
                          <a:spcPts val="3554"/>
                        </a:lnSpc>
                      </a:pPr>
                      <a:r>
                        <a:rPr sz="3100" spc="-10" dirty="0">
                          <a:latin typeface="Times New Roman"/>
                          <a:cs typeface="Times New Roman"/>
                        </a:rPr>
                        <a:t>23BD1A66</a:t>
                      </a:r>
                      <a:r>
                        <a:rPr lang="en-IN" sz="3100" spc="-10" dirty="0">
                          <a:latin typeface="Times New Roman"/>
                          <a:cs typeface="Times New Roman"/>
                        </a:rPr>
                        <a:t>3B</a:t>
                      </a:r>
                      <a:endParaRPr sz="3100" dirty="0">
                        <a:latin typeface="Times New Roman"/>
                        <a:cs typeface="Times New Roman"/>
                      </a:endParaRPr>
                    </a:p>
                  </a:txBody>
                  <a:tcPr marL="0" marR="0" marT="0" marB="0"/>
                </a:tc>
                <a:tc>
                  <a:txBody>
                    <a:bodyPr/>
                    <a:lstStyle/>
                    <a:p>
                      <a:pPr marL="254000">
                        <a:lnSpc>
                          <a:spcPts val="3554"/>
                        </a:lnSpc>
                      </a:pPr>
                      <a:r>
                        <a:rPr sz="3100" spc="-10" dirty="0">
                          <a:latin typeface="Times New Roman"/>
                          <a:cs typeface="Times New Roman"/>
                        </a:rPr>
                        <a:t>23BD1A663</a:t>
                      </a:r>
                      <a:r>
                        <a:rPr lang="en-IN" sz="3100" spc="-10" dirty="0">
                          <a:latin typeface="Times New Roman"/>
                          <a:cs typeface="Times New Roman"/>
                        </a:rPr>
                        <a:t>9</a:t>
                      </a:r>
                      <a:endParaRPr sz="3100" dirty="0">
                        <a:latin typeface="Times New Roman"/>
                        <a:cs typeface="Times New Roman"/>
                      </a:endParaRPr>
                    </a:p>
                  </a:txBody>
                  <a:tcPr marL="0" marR="0" marT="0" marB="0"/>
                </a:tc>
                <a:tc>
                  <a:txBody>
                    <a:bodyPr/>
                    <a:lstStyle/>
                    <a:p>
                      <a:pPr marL="214629">
                        <a:lnSpc>
                          <a:spcPts val="3554"/>
                        </a:lnSpc>
                      </a:pPr>
                      <a:r>
                        <a:rPr sz="3100" spc="-10" dirty="0">
                          <a:latin typeface="Times New Roman"/>
                          <a:cs typeface="Times New Roman"/>
                        </a:rPr>
                        <a:t>23BD1A66</a:t>
                      </a:r>
                      <a:r>
                        <a:rPr lang="en-IN" sz="3100" spc="-10" dirty="0">
                          <a:latin typeface="Times New Roman"/>
                          <a:cs typeface="Times New Roman"/>
                        </a:rPr>
                        <a:t>27</a:t>
                      </a:r>
                      <a:endParaRPr sz="3100" dirty="0">
                        <a:latin typeface="Times New Roman"/>
                        <a:cs typeface="Times New Roman"/>
                      </a:endParaRPr>
                    </a:p>
                  </a:txBody>
                  <a:tcPr marL="0" marR="0" marT="0" marB="0"/>
                </a:tc>
                <a:extLst>
                  <a:ext uri="{0D108BD9-81ED-4DB2-BD59-A6C34878D82A}">
                    <a16:rowId xmlns:a16="http://schemas.microsoft.com/office/drawing/2014/main" val="10001"/>
                  </a:ext>
                </a:extLst>
              </a:tr>
              <a:tr h="458470">
                <a:tc>
                  <a:txBody>
                    <a:bodyPr/>
                    <a:lstStyle/>
                    <a:p>
                      <a:pPr marL="31750">
                        <a:lnSpc>
                          <a:spcPts val="3510"/>
                        </a:lnSpc>
                      </a:pPr>
                      <a:r>
                        <a:rPr sz="3100" b="1" spc="-10" dirty="0">
                          <a:latin typeface="Times New Roman"/>
                          <a:cs typeface="Times New Roman"/>
                        </a:rPr>
                        <a:t>SECTION:</a:t>
                      </a:r>
                      <a:endParaRPr sz="3100">
                        <a:latin typeface="Times New Roman"/>
                        <a:cs typeface="Times New Roman"/>
                      </a:endParaRPr>
                    </a:p>
                  </a:txBody>
                  <a:tcPr marL="0" marR="0" marT="0" marB="0"/>
                </a:tc>
                <a:tc>
                  <a:txBody>
                    <a:bodyPr/>
                    <a:lstStyle/>
                    <a:p>
                      <a:pPr marL="149225">
                        <a:lnSpc>
                          <a:spcPts val="3510"/>
                        </a:lnSpc>
                      </a:pPr>
                      <a:r>
                        <a:rPr sz="3100" dirty="0">
                          <a:latin typeface="Times New Roman"/>
                          <a:cs typeface="Times New Roman"/>
                        </a:rPr>
                        <a:t>CSM-</a:t>
                      </a:r>
                      <a:r>
                        <a:rPr sz="3100" spc="-50" dirty="0">
                          <a:latin typeface="Times New Roman"/>
                          <a:cs typeface="Times New Roman"/>
                        </a:rPr>
                        <a:t>B</a:t>
                      </a:r>
                      <a:endParaRPr sz="3100">
                        <a:latin typeface="Times New Roman"/>
                        <a:cs typeface="Times New Roman"/>
                      </a:endParaRPr>
                    </a:p>
                  </a:txBody>
                  <a:tcPr marL="0" marR="0" marT="0" marB="0"/>
                </a:tc>
                <a:tc>
                  <a:txBody>
                    <a:bodyPr/>
                    <a:lstStyle/>
                    <a:p>
                      <a:pPr marL="177165">
                        <a:lnSpc>
                          <a:spcPts val="3510"/>
                        </a:lnSpc>
                      </a:pPr>
                      <a:r>
                        <a:rPr sz="3100" dirty="0">
                          <a:latin typeface="Times New Roman"/>
                          <a:cs typeface="Times New Roman"/>
                        </a:rPr>
                        <a:t>CSM-</a:t>
                      </a:r>
                      <a:r>
                        <a:rPr sz="3100" spc="-50" dirty="0">
                          <a:latin typeface="Times New Roman"/>
                          <a:cs typeface="Times New Roman"/>
                        </a:rPr>
                        <a:t>B</a:t>
                      </a:r>
                      <a:endParaRPr sz="3100" dirty="0">
                        <a:latin typeface="Times New Roman"/>
                        <a:cs typeface="Times New Roman"/>
                      </a:endParaRPr>
                    </a:p>
                  </a:txBody>
                  <a:tcPr marL="0" marR="0" marT="0" marB="0"/>
                </a:tc>
                <a:tc>
                  <a:txBody>
                    <a:bodyPr/>
                    <a:lstStyle/>
                    <a:p>
                      <a:pPr marL="321945">
                        <a:lnSpc>
                          <a:spcPts val="3510"/>
                        </a:lnSpc>
                      </a:pPr>
                      <a:r>
                        <a:rPr sz="3100" dirty="0">
                          <a:latin typeface="Times New Roman"/>
                          <a:cs typeface="Times New Roman"/>
                        </a:rPr>
                        <a:t>CSM-</a:t>
                      </a:r>
                      <a:r>
                        <a:rPr sz="3100" spc="-50" dirty="0">
                          <a:latin typeface="Times New Roman"/>
                          <a:cs typeface="Times New Roman"/>
                        </a:rPr>
                        <a:t>B</a:t>
                      </a:r>
                      <a:endParaRPr sz="3100">
                        <a:latin typeface="Times New Roman"/>
                        <a:cs typeface="Times New Roman"/>
                      </a:endParaRPr>
                    </a:p>
                  </a:txBody>
                  <a:tcPr marL="0" marR="0" marT="0" marB="0"/>
                </a:tc>
                <a:tc>
                  <a:txBody>
                    <a:bodyPr/>
                    <a:lstStyle/>
                    <a:p>
                      <a:pPr marL="183515">
                        <a:lnSpc>
                          <a:spcPts val="3510"/>
                        </a:lnSpc>
                      </a:pPr>
                      <a:r>
                        <a:rPr sz="3100" dirty="0">
                          <a:latin typeface="Times New Roman"/>
                          <a:cs typeface="Times New Roman"/>
                        </a:rPr>
                        <a:t>CSM-</a:t>
                      </a:r>
                      <a:r>
                        <a:rPr sz="3100" spc="-50" dirty="0">
                          <a:latin typeface="Times New Roman"/>
                          <a:cs typeface="Times New Roman"/>
                        </a:rPr>
                        <a:t>B</a:t>
                      </a:r>
                      <a:endParaRPr sz="3100" dirty="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4401" y="748757"/>
            <a:ext cx="16154400" cy="1990288"/>
          </a:xfrm>
          <a:prstGeom prst="rect">
            <a:avLst/>
          </a:prstGeom>
        </p:spPr>
        <p:txBody>
          <a:bodyPr vert="horz" wrap="square" lIns="0" tIns="12700" rIns="0" bIns="0" rtlCol="0">
            <a:spAutoFit/>
          </a:bodyPr>
          <a:lstStyle/>
          <a:p>
            <a:pPr marL="12700" algn="ctr">
              <a:lnSpc>
                <a:spcPct val="100000"/>
              </a:lnSpc>
              <a:spcBef>
                <a:spcPts val="100"/>
              </a:spcBef>
            </a:pPr>
            <a:r>
              <a:rPr lang="en-GB" sz="4400" dirty="0">
                <a:latin typeface="Arial Nova" panose="020B0504020202020204" pitchFamily="34" charset="0"/>
              </a:rPr>
              <a:t>Intelligent Medical Image Analysis with </a:t>
            </a:r>
            <a:br>
              <a:rPr lang="en-GB" sz="4400" dirty="0">
                <a:latin typeface="Arial Nova" panose="020B0504020202020204" pitchFamily="34" charset="0"/>
              </a:rPr>
            </a:br>
            <a:r>
              <a:rPr lang="en-GB" sz="4400" dirty="0">
                <a:latin typeface="Arial Nova" panose="020B0504020202020204" pitchFamily="34" charset="0"/>
              </a:rPr>
              <a:t>Automated Clinical Report Generation</a:t>
            </a:r>
            <a:br>
              <a:rPr lang="en-GB" sz="4400" dirty="0">
                <a:latin typeface="Arial Nova" panose="020B0504020202020204" pitchFamily="34" charset="0"/>
              </a:rPr>
            </a:br>
            <a:endParaRPr spc="-10" dirty="0">
              <a:solidFill>
                <a:srgbClr val="4E81BD"/>
              </a:solidFill>
            </a:endParaRPr>
          </a:p>
        </p:txBody>
      </p:sp>
      <p:sp>
        <p:nvSpPr>
          <p:cNvPr id="5" name="object 5"/>
          <p:cNvSpPr txBox="1"/>
          <p:nvPr/>
        </p:nvSpPr>
        <p:spPr>
          <a:xfrm>
            <a:off x="3352800" y="3619500"/>
            <a:ext cx="9829800" cy="4951997"/>
          </a:xfrm>
          <a:prstGeom prst="rect">
            <a:avLst/>
          </a:prstGeom>
        </p:spPr>
        <p:txBody>
          <a:bodyPr vert="horz" wrap="square" lIns="0" tIns="27305" rIns="0" bIns="0" rtlCol="0">
            <a:spAutoFit/>
          </a:bodyPr>
          <a:lstStyle/>
          <a:p>
            <a:pPr marL="783590" lvl="2" indent="-514350">
              <a:buFont typeface="+mj-lt"/>
              <a:buAutoNum type="arabicPeriod"/>
              <a:tabLst>
                <a:tab pos="697865" algn="l"/>
              </a:tabLst>
            </a:pPr>
            <a:r>
              <a:rPr lang="en-GB" sz="3200" spc="-10" dirty="0">
                <a:latin typeface="Times New Roman"/>
                <a:cs typeface="Times New Roman"/>
              </a:rPr>
              <a:t>Abstract</a:t>
            </a:r>
            <a:endParaRPr lang="en-GB" sz="3200" dirty="0">
              <a:latin typeface="Times New Roman"/>
              <a:cs typeface="Times New Roman"/>
            </a:endParaRPr>
          </a:p>
          <a:p>
            <a:pPr marL="783590" lvl="2" indent="-514350">
              <a:buFont typeface="+mj-lt"/>
              <a:buAutoNum type="arabicPeriod"/>
              <a:tabLst>
                <a:tab pos="697865" algn="l"/>
              </a:tabLst>
            </a:pPr>
            <a:r>
              <a:rPr lang="en-GB" sz="3200" spc="-10" dirty="0">
                <a:latin typeface="Times New Roman"/>
                <a:cs typeface="Times New Roman"/>
              </a:rPr>
              <a:t>Introduction</a:t>
            </a:r>
            <a:endParaRPr lang="en-GB" sz="3200" dirty="0">
              <a:latin typeface="Times New Roman"/>
              <a:cs typeface="Times New Roman"/>
            </a:endParaRPr>
          </a:p>
          <a:p>
            <a:pPr marL="783590" lvl="2" indent="-514350">
              <a:buFont typeface="+mj-lt"/>
              <a:buAutoNum type="arabicPeriod"/>
              <a:tabLst>
                <a:tab pos="697865" algn="l"/>
              </a:tabLst>
            </a:pPr>
            <a:r>
              <a:rPr lang="en-GB" sz="3200" dirty="0">
                <a:latin typeface="Times New Roman"/>
                <a:cs typeface="Times New Roman"/>
              </a:rPr>
              <a:t>Literature</a:t>
            </a:r>
            <a:r>
              <a:rPr lang="en-GB" sz="3200" spc="-110" dirty="0">
                <a:latin typeface="Times New Roman"/>
                <a:cs typeface="Times New Roman"/>
              </a:rPr>
              <a:t> </a:t>
            </a:r>
            <a:r>
              <a:rPr lang="en-GB" sz="3200" spc="-10" dirty="0">
                <a:latin typeface="Times New Roman"/>
                <a:cs typeface="Times New Roman"/>
              </a:rPr>
              <a:t>Survey</a:t>
            </a:r>
            <a:endParaRPr lang="en-GB" sz="3200" dirty="0">
              <a:latin typeface="Times New Roman"/>
              <a:cs typeface="Times New Roman"/>
            </a:endParaRPr>
          </a:p>
          <a:p>
            <a:pPr marL="732155" lvl="2" indent="-514350">
              <a:buFont typeface="+mj-lt"/>
              <a:buAutoNum type="arabicPeriod"/>
              <a:tabLst>
                <a:tab pos="680085" algn="l"/>
              </a:tabLst>
            </a:pPr>
            <a:r>
              <a:rPr lang="en-GB" sz="3200" dirty="0">
                <a:latin typeface="Times New Roman"/>
                <a:cs typeface="Times New Roman"/>
              </a:rPr>
              <a:t>Existing</a:t>
            </a:r>
            <a:r>
              <a:rPr lang="en-GB" sz="3200" spc="-10" dirty="0">
                <a:latin typeface="Times New Roman"/>
                <a:cs typeface="Times New Roman"/>
              </a:rPr>
              <a:t> </a:t>
            </a:r>
            <a:r>
              <a:rPr lang="en-GB" sz="3200" dirty="0">
                <a:latin typeface="Times New Roman"/>
                <a:cs typeface="Times New Roman"/>
              </a:rPr>
              <a:t>System</a:t>
            </a:r>
            <a:r>
              <a:rPr lang="en-GB" sz="3200" spc="-10" dirty="0">
                <a:latin typeface="Times New Roman"/>
                <a:cs typeface="Times New Roman"/>
              </a:rPr>
              <a:t> </a:t>
            </a:r>
            <a:r>
              <a:rPr lang="en-GB" sz="3200" dirty="0">
                <a:latin typeface="Times New Roman"/>
                <a:cs typeface="Times New Roman"/>
              </a:rPr>
              <a:t>and</a:t>
            </a:r>
            <a:r>
              <a:rPr lang="en-GB" sz="3200" spc="-10" dirty="0">
                <a:latin typeface="Times New Roman"/>
                <a:cs typeface="Times New Roman"/>
              </a:rPr>
              <a:t> </a:t>
            </a:r>
            <a:r>
              <a:rPr lang="en-GB" sz="3200" dirty="0">
                <a:latin typeface="Times New Roman"/>
                <a:cs typeface="Times New Roman"/>
              </a:rPr>
              <a:t>Its</a:t>
            </a:r>
            <a:r>
              <a:rPr lang="en-GB" sz="3200" spc="-10" dirty="0">
                <a:latin typeface="Times New Roman"/>
                <a:cs typeface="Times New Roman"/>
              </a:rPr>
              <a:t> Limitations</a:t>
            </a:r>
          </a:p>
          <a:p>
            <a:pPr marL="732155" lvl="2" indent="-514350">
              <a:buFont typeface="+mj-lt"/>
              <a:buAutoNum type="arabicPeriod"/>
              <a:tabLst>
                <a:tab pos="680085" algn="l"/>
              </a:tabLst>
            </a:pPr>
            <a:r>
              <a:rPr lang="en-GB" sz="3200" dirty="0">
                <a:latin typeface="Times New Roman"/>
                <a:cs typeface="Times New Roman"/>
              </a:rPr>
              <a:t>Proposed </a:t>
            </a:r>
            <a:r>
              <a:rPr lang="en-GB" sz="3200" spc="-10" dirty="0">
                <a:latin typeface="Times New Roman"/>
                <a:cs typeface="Times New Roman"/>
              </a:rPr>
              <a:t>Solution</a:t>
            </a:r>
          </a:p>
          <a:p>
            <a:pPr marL="732155" lvl="2" indent="-514350">
              <a:buFont typeface="+mj-lt"/>
              <a:buAutoNum type="arabicPeriod"/>
              <a:tabLst>
                <a:tab pos="680085" algn="l"/>
              </a:tabLst>
            </a:pPr>
            <a:r>
              <a:rPr lang="en-GB" sz="3200" dirty="0">
                <a:latin typeface="Times New Roman"/>
                <a:cs typeface="Times New Roman"/>
              </a:rPr>
              <a:t>Proposed </a:t>
            </a:r>
            <a:r>
              <a:rPr lang="en-GB" sz="3200" spc="-10" dirty="0">
                <a:latin typeface="Times New Roman"/>
                <a:cs typeface="Times New Roman"/>
              </a:rPr>
              <a:t>Methodology</a:t>
            </a:r>
          </a:p>
          <a:p>
            <a:pPr marL="732155" lvl="2" indent="-514350">
              <a:buFont typeface="+mj-lt"/>
              <a:buAutoNum type="arabicPeriod"/>
              <a:tabLst>
                <a:tab pos="680085" algn="l"/>
              </a:tabLst>
            </a:pPr>
            <a:r>
              <a:rPr lang="en-IN" sz="3200" spc="-10" dirty="0">
                <a:latin typeface="Times New Roman"/>
                <a:cs typeface="Times New Roman"/>
              </a:rPr>
              <a:t>Implementation</a:t>
            </a:r>
            <a:r>
              <a:rPr lang="en-IN" sz="3200" spc="-35" dirty="0">
                <a:latin typeface="Times New Roman"/>
                <a:cs typeface="Times New Roman"/>
              </a:rPr>
              <a:t> </a:t>
            </a:r>
            <a:r>
              <a:rPr lang="en-IN" sz="3200" dirty="0">
                <a:latin typeface="Times New Roman"/>
                <a:cs typeface="Times New Roman"/>
              </a:rPr>
              <a:t>(</a:t>
            </a:r>
            <a:r>
              <a:rPr lang="en-IN" sz="3200" spc="-30" dirty="0">
                <a:latin typeface="Times New Roman"/>
                <a:cs typeface="Times New Roman"/>
              </a:rPr>
              <a:t> </a:t>
            </a:r>
            <a:r>
              <a:rPr lang="en-IN" sz="3200" dirty="0">
                <a:latin typeface="Times New Roman"/>
                <a:cs typeface="Times New Roman"/>
              </a:rPr>
              <a:t>Algorithms</a:t>
            </a:r>
            <a:r>
              <a:rPr lang="en-IN" sz="3200" spc="-30" dirty="0">
                <a:latin typeface="Times New Roman"/>
                <a:cs typeface="Times New Roman"/>
              </a:rPr>
              <a:t> </a:t>
            </a:r>
            <a:r>
              <a:rPr lang="en-IN" sz="3200" dirty="0">
                <a:latin typeface="Times New Roman"/>
                <a:cs typeface="Times New Roman"/>
              </a:rPr>
              <a:t>and</a:t>
            </a:r>
            <a:r>
              <a:rPr lang="en-IN" sz="3200" spc="-30" dirty="0">
                <a:latin typeface="Times New Roman"/>
                <a:cs typeface="Times New Roman"/>
              </a:rPr>
              <a:t> </a:t>
            </a:r>
            <a:r>
              <a:rPr lang="en-IN" sz="3200" dirty="0">
                <a:latin typeface="Times New Roman"/>
                <a:cs typeface="Times New Roman"/>
              </a:rPr>
              <a:t>Screen</a:t>
            </a:r>
            <a:r>
              <a:rPr lang="en-IN" sz="3200" spc="-10" dirty="0">
                <a:latin typeface="Times New Roman"/>
                <a:cs typeface="Times New Roman"/>
              </a:rPr>
              <a:t>shots)</a:t>
            </a:r>
          </a:p>
          <a:p>
            <a:pPr marL="732155" lvl="2" indent="-514350">
              <a:buFont typeface="+mj-lt"/>
              <a:buAutoNum type="arabicPeriod"/>
              <a:tabLst>
                <a:tab pos="680085" algn="l"/>
              </a:tabLst>
            </a:pPr>
            <a:r>
              <a:rPr lang="en-IN" sz="3200" spc="-10" dirty="0">
                <a:latin typeface="Times New Roman"/>
                <a:cs typeface="Times New Roman"/>
              </a:rPr>
              <a:t>Conclusion</a:t>
            </a:r>
          </a:p>
          <a:p>
            <a:pPr marL="732155" lvl="2" indent="-514350">
              <a:buFont typeface="+mj-lt"/>
              <a:buAutoNum type="arabicPeriod"/>
              <a:tabLst>
                <a:tab pos="680085" algn="l"/>
              </a:tabLst>
            </a:pPr>
            <a:r>
              <a:rPr lang="en-IN" sz="3200" dirty="0">
                <a:latin typeface="Times New Roman"/>
                <a:cs typeface="Times New Roman"/>
              </a:rPr>
              <a:t>Future</a:t>
            </a:r>
            <a:r>
              <a:rPr lang="en-IN" sz="3200" spc="-75" dirty="0">
                <a:latin typeface="Times New Roman"/>
                <a:cs typeface="Times New Roman"/>
              </a:rPr>
              <a:t> </a:t>
            </a:r>
            <a:r>
              <a:rPr lang="en-IN" sz="3200" spc="-10" dirty="0">
                <a:latin typeface="Times New Roman"/>
                <a:cs typeface="Times New Roman"/>
              </a:rPr>
              <a:t>Enhancement</a:t>
            </a:r>
          </a:p>
          <a:p>
            <a:pPr marL="732155" lvl="2" indent="-514350">
              <a:buFont typeface="+mj-lt"/>
              <a:buAutoNum type="arabicPeriod"/>
              <a:tabLst>
                <a:tab pos="680085" algn="l"/>
              </a:tabLst>
            </a:pPr>
            <a:r>
              <a:rPr lang="en-IN" sz="3200" spc="-10" dirty="0">
                <a:latin typeface="Times New Roman"/>
                <a:cs typeface="Times New Roman"/>
              </a:rPr>
              <a:t>References</a:t>
            </a:r>
          </a:p>
        </p:txBody>
      </p:sp>
      <p:sp>
        <p:nvSpPr>
          <p:cNvPr id="7" name="TextBox 6">
            <a:extLst>
              <a:ext uri="{FF2B5EF4-FFF2-40B4-BE49-F238E27FC236}">
                <a16:creationId xmlns:a16="http://schemas.microsoft.com/office/drawing/2014/main" id="{BFA2DF0A-6087-06E1-B52A-D393F4E642C6}"/>
              </a:ext>
            </a:extLst>
          </p:cNvPr>
          <p:cNvSpPr txBox="1"/>
          <p:nvPr/>
        </p:nvSpPr>
        <p:spPr>
          <a:xfrm>
            <a:off x="3352800" y="2628811"/>
            <a:ext cx="3581400" cy="677108"/>
          </a:xfrm>
          <a:prstGeom prst="rect">
            <a:avLst/>
          </a:prstGeom>
          <a:noFill/>
        </p:spPr>
        <p:txBody>
          <a:bodyPr wrap="square" rtlCol="0">
            <a:spAutoFit/>
          </a:bodyPr>
          <a:lstStyle/>
          <a:p>
            <a:r>
              <a:rPr lang="en-GB" sz="3800" b="1" spc="-10" dirty="0">
                <a:latin typeface="Times New Roman"/>
                <a:cs typeface="Times New Roman"/>
              </a:rPr>
              <a:t>Index:</a:t>
            </a:r>
            <a:endParaRPr lang="en-IN"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57400" y="1021023"/>
            <a:ext cx="7483468" cy="946367"/>
          </a:xfrm>
          <a:prstGeom prst="rect">
            <a:avLst/>
          </a:prstGeom>
        </p:spPr>
        <p:txBody>
          <a:bodyPr vert="horz" wrap="square" lIns="0" tIns="319995" rIns="0" bIns="0" rtlCol="0">
            <a:spAutoFit/>
          </a:bodyPr>
          <a:lstStyle/>
          <a:p>
            <a:pPr marL="24765">
              <a:lnSpc>
                <a:spcPct val="100000"/>
              </a:lnSpc>
              <a:spcBef>
                <a:spcPts val="100"/>
              </a:spcBef>
            </a:pPr>
            <a:r>
              <a:rPr spc="-10" dirty="0"/>
              <a:t>Abstract</a:t>
            </a:r>
          </a:p>
        </p:txBody>
      </p:sp>
      <p:sp>
        <p:nvSpPr>
          <p:cNvPr id="3" name="object 3"/>
          <p:cNvSpPr txBox="1"/>
          <p:nvPr/>
        </p:nvSpPr>
        <p:spPr>
          <a:xfrm>
            <a:off x="2057400" y="2324100"/>
            <a:ext cx="13873480" cy="6468693"/>
          </a:xfrm>
          <a:prstGeom prst="rect">
            <a:avLst/>
          </a:prstGeom>
        </p:spPr>
        <p:txBody>
          <a:bodyPr vert="horz" wrap="square" lIns="0" tIns="33019" rIns="0" bIns="0" rtlCol="0">
            <a:spAutoFit/>
          </a:bodyPr>
          <a:lstStyle/>
          <a:p>
            <a:pPr marL="540000" indent="-540000">
              <a:lnSpc>
                <a:spcPct val="125000"/>
              </a:lnSpc>
              <a:spcBef>
                <a:spcPts val="150"/>
              </a:spcBef>
              <a:buFont typeface="Arial" panose="020B0604020202020204" pitchFamily="34" charset="0"/>
              <a:buChar char="•"/>
            </a:pPr>
            <a:r>
              <a:rPr lang="en-IN" sz="2800" dirty="0">
                <a:latin typeface="Arial Nova" panose="020B0504020202020204" pitchFamily="34" charset="0"/>
              </a:rPr>
              <a:t>Medical image analysis is increasingly adopting Vision-Language Foundation Models (VLMs) to jointly understand visual information and clinical knowledge. Inspired by recent advances in multimodal medical AI, this project presents an intelligent medical image analysis system capable of </a:t>
            </a:r>
            <a:r>
              <a:rPr lang="en-IN" sz="2800" dirty="0" err="1">
                <a:latin typeface="Arial Nova" panose="020B0504020202020204" pitchFamily="34" charset="0"/>
              </a:rPr>
              <a:t>analyzing</a:t>
            </a:r>
            <a:r>
              <a:rPr lang="en-IN" sz="2800" dirty="0">
                <a:latin typeface="Arial Nova" panose="020B0504020202020204" pitchFamily="34" charset="0"/>
              </a:rPr>
              <a:t> both visible-light medical images and radiological scans through a unified pipeline.</a:t>
            </a:r>
          </a:p>
          <a:p>
            <a:pPr marL="540000" indent="-540000">
              <a:lnSpc>
                <a:spcPct val="125000"/>
              </a:lnSpc>
              <a:spcBef>
                <a:spcPts val="150"/>
              </a:spcBef>
              <a:buFont typeface="Arial" panose="020B0604020202020204" pitchFamily="34" charset="0"/>
              <a:buChar char="•"/>
            </a:pPr>
            <a:r>
              <a:rPr lang="en-IN" sz="2800" dirty="0">
                <a:latin typeface="Arial Nova" panose="020B0504020202020204" pitchFamily="34" charset="0"/>
              </a:rPr>
              <a:t>The proposed framework integrates modality-aware vision models, lesion localization, segmentation, severity estimation, Retrieval-Augmented Generation (RAG), and automated clinical report generation. The system further recommends the appropriate medical specialist and provides an AI-powered clinical assistant for follow-up medical queries. By combining foundation models with modern computer vision techniques, the proposed solution aims to improve diagnostic accuracy, explainability, and clinical decision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00200" y="1169132"/>
            <a:ext cx="7877172" cy="1042625"/>
          </a:xfrm>
          <a:prstGeom prst="rect">
            <a:avLst/>
          </a:prstGeom>
        </p:spPr>
        <p:txBody>
          <a:bodyPr vert="horz" wrap="square" lIns="0" tIns="326263" rIns="0" bIns="0" rtlCol="0">
            <a:spAutoFit/>
          </a:bodyPr>
          <a:lstStyle/>
          <a:p>
            <a:pPr marL="419100">
              <a:lnSpc>
                <a:spcPct val="100000"/>
              </a:lnSpc>
              <a:spcBef>
                <a:spcPts val="100"/>
              </a:spcBef>
            </a:pPr>
            <a:r>
              <a:rPr spc="-10" dirty="0"/>
              <a:t>Introduction</a:t>
            </a:r>
          </a:p>
        </p:txBody>
      </p:sp>
      <p:sp>
        <p:nvSpPr>
          <p:cNvPr id="6" name="object 6"/>
          <p:cNvSpPr txBox="1"/>
          <p:nvPr/>
        </p:nvSpPr>
        <p:spPr>
          <a:xfrm>
            <a:off x="1981200" y="2424176"/>
            <a:ext cx="13420519" cy="6693692"/>
          </a:xfrm>
          <a:prstGeom prst="rect">
            <a:avLst/>
          </a:prstGeom>
        </p:spPr>
        <p:txBody>
          <a:bodyPr vert="horz" wrap="square" lIns="0" tIns="29845" rIns="0" bIns="0" rtlCol="0">
            <a:spAutoFit/>
          </a:bodyPr>
          <a:lstStyle/>
          <a:p>
            <a:pPr>
              <a:lnSpc>
                <a:spcPct val="130000"/>
              </a:lnSpc>
            </a:pPr>
            <a:r>
              <a:rPr lang="en-IN" sz="2800" dirty="0"/>
              <a:t>Recent advances in Vision-Language Models have transformed medical image analysis by enabling joint understanding of medical images and textual clinical knowledge. Unlike conventional deep learning models that perform isolated classification tasks, modern medical VLMs support disease diagnosis, localization, report generation, visual question answering, and clinical reasoning within a unified framework. </a:t>
            </a:r>
          </a:p>
          <a:p>
            <a:pPr>
              <a:lnSpc>
                <a:spcPct val="130000"/>
              </a:lnSpc>
            </a:pPr>
            <a:r>
              <a:rPr lang="en-IN" sz="2800" dirty="0"/>
              <a:t>Inspired by these developments, this project proposes an intelligent multimodal medical diagnosis system capable of processing multiple imaging modalities through specialized foundation models. The framework automatically detects image modality, identifies diseases, localizes pathological regions, estimates severity, generates structured clinical reports, and provides retrieval-grounded medical explanations using RAG.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47800" y="1333500"/>
            <a:ext cx="7877172" cy="1042625"/>
          </a:xfrm>
          <a:prstGeom prst="rect">
            <a:avLst/>
          </a:prstGeom>
        </p:spPr>
        <p:txBody>
          <a:bodyPr vert="horz" wrap="square" lIns="0" tIns="292515" rIns="0" bIns="0" rtlCol="0">
            <a:spAutoFit/>
          </a:bodyPr>
          <a:lstStyle/>
          <a:p>
            <a:pPr marL="299720">
              <a:lnSpc>
                <a:spcPct val="100000"/>
              </a:lnSpc>
              <a:spcBef>
                <a:spcPts val="100"/>
              </a:spcBef>
            </a:pPr>
            <a:r>
              <a:rPr spc="-10" dirty="0"/>
              <a:t>Literature</a:t>
            </a:r>
            <a:r>
              <a:rPr spc="-165" dirty="0"/>
              <a:t> </a:t>
            </a:r>
            <a:r>
              <a:rPr spc="-10" dirty="0"/>
              <a:t>Survey</a:t>
            </a:r>
          </a:p>
        </p:txBody>
      </p:sp>
      <p:sp>
        <p:nvSpPr>
          <p:cNvPr id="6" name="object 6"/>
          <p:cNvSpPr txBox="1"/>
          <p:nvPr/>
        </p:nvSpPr>
        <p:spPr>
          <a:xfrm>
            <a:off x="1905000" y="2667063"/>
            <a:ext cx="13664275" cy="6132833"/>
          </a:xfrm>
          <a:prstGeom prst="rect">
            <a:avLst/>
          </a:prstGeom>
        </p:spPr>
        <p:txBody>
          <a:bodyPr vert="horz" wrap="square" lIns="0" tIns="29845" rIns="0" bIns="0" rtlCol="0">
            <a:spAutoFit/>
          </a:bodyPr>
          <a:lstStyle/>
          <a:p>
            <a:pPr marL="457200" indent="-457200">
              <a:lnSpc>
                <a:spcPct val="130000"/>
              </a:lnSpc>
              <a:buFont typeface="Arial" panose="020B0604020202020204" pitchFamily="34" charset="0"/>
              <a:buChar char="•"/>
            </a:pPr>
            <a:r>
              <a:rPr lang="en-IN" sz="2800" dirty="0">
                <a:latin typeface="Arial Nova" panose="020B0504020202020204" pitchFamily="34" charset="0"/>
              </a:rPr>
              <a:t>Recent research demonstrates that Vision-Language Foundation Models such as </a:t>
            </a:r>
            <a:r>
              <a:rPr lang="en-IN" sz="2800" b="1" dirty="0" err="1">
                <a:latin typeface="Arial Nova" panose="020B0504020202020204" pitchFamily="34" charset="0"/>
              </a:rPr>
              <a:t>BiomedCLIP</a:t>
            </a:r>
            <a:r>
              <a:rPr lang="en-IN" sz="2800" dirty="0">
                <a:latin typeface="Arial Nova" panose="020B0504020202020204" pitchFamily="34" charset="0"/>
              </a:rPr>
              <a:t>, </a:t>
            </a:r>
            <a:r>
              <a:rPr lang="en-IN" sz="2800" b="1" dirty="0">
                <a:latin typeface="Arial Nova" panose="020B0504020202020204" pitchFamily="34" charset="0"/>
              </a:rPr>
              <a:t>Med-</a:t>
            </a:r>
            <a:r>
              <a:rPr lang="en-IN" sz="2800" b="1" dirty="0" err="1">
                <a:latin typeface="Arial Nova" panose="020B0504020202020204" pitchFamily="34" charset="0"/>
              </a:rPr>
              <a:t>PaLM</a:t>
            </a:r>
            <a:r>
              <a:rPr lang="en-IN" sz="2800" b="1" dirty="0">
                <a:latin typeface="Arial Nova" panose="020B0504020202020204" pitchFamily="34" charset="0"/>
              </a:rPr>
              <a:t> M</a:t>
            </a:r>
            <a:r>
              <a:rPr lang="en-IN" sz="2800" dirty="0">
                <a:latin typeface="Arial Nova" panose="020B0504020202020204" pitchFamily="34" charset="0"/>
              </a:rPr>
              <a:t>, </a:t>
            </a:r>
            <a:r>
              <a:rPr lang="en-IN" sz="2800" b="1" dirty="0" err="1">
                <a:latin typeface="Arial Nova" panose="020B0504020202020204" pitchFamily="34" charset="0"/>
              </a:rPr>
              <a:t>BiomedGPT</a:t>
            </a:r>
            <a:r>
              <a:rPr lang="en-IN" sz="2800" dirty="0">
                <a:latin typeface="Arial Nova" panose="020B0504020202020204" pitchFamily="34" charset="0"/>
              </a:rPr>
              <a:t>, </a:t>
            </a:r>
            <a:r>
              <a:rPr lang="en-IN" sz="2800" b="1" dirty="0" err="1">
                <a:latin typeface="Arial Nova" panose="020B0504020202020204" pitchFamily="34" charset="0"/>
              </a:rPr>
              <a:t>RadFM</a:t>
            </a:r>
            <a:r>
              <a:rPr lang="en-IN" sz="2800" dirty="0">
                <a:latin typeface="Arial Nova" panose="020B0504020202020204" pitchFamily="34" charset="0"/>
              </a:rPr>
              <a:t>, and </a:t>
            </a:r>
            <a:r>
              <a:rPr lang="en-IN" sz="2800" b="1" dirty="0" err="1">
                <a:latin typeface="Arial Nova" panose="020B0504020202020204" pitchFamily="34" charset="0"/>
              </a:rPr>
              <a:t>MedVersa</a:t>
            </a:r>
            <a:r>
              <a:rPr lang="en-IN" sz="2800" dirty="0">
                <a:latin typeface="Arial Nova" panose="020B0504020202020204" pitchFamily="34" charset="0"/>
              </a:rPr>
              <a:t> have significantly improved medical image understanding by learning joint representations of images and clinical text. These models support tasks including disease classification, report generation, image-text retrieval, visual question answering, segmentation, and multimodal reasoning. </a:t>
            </a:r>
          </a:p>
          <a:p>
            <a:pPr marL="457200" indent="-457200">
              <a:lnSpc>
                <a:spcPct val="130000"/>
              </a:lnSpc>
              <a:buFont typeface="Arial" panose="020B0604020202020204" pitchFamily="34" charset="0"/>
              <a:buChar char="•"/>
            </a:pPr>
            <a:r>
              <a:rPr lang="en-IN" sz="2800" dirty="0">
                <a:latin typeface="Arial Nova" panose="020B0504020202020204" pitchFamily="34" charset="0"/>
              </a:rPr>
              <a:t>The survey also highlights that Retrieval-Augmented Generation reduces hallucination in clinical report generation by grounding responses using retrieved medical knowledge. Furthermore, modern systems increasingly integrate object detection, segmentation, and specialist recommendation to provide comprehensive clinical decision support.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52600" y="1443462"/>
            <a:ext cx="7877172" cy="1042625"/>
          </a:xfrm>
          <a:prstGeom prst="rect">
            <a:avLst/>
          </a:prstGeom>
        </p:spPr>
        <p:txBody>
          <a:bodyPr vert="horz" wrap="square" lIns="0" tIns="140489" rIns="0" bIns="0" rtlCol="0">
            <a:spAutoFit/>
          </a:bodyPr>
          <a:lstStyle/>
          <a:p>
            <a:pPr marL="33020">
              <a:lnSpc>
                <a:spcPct val="100000"/>
              </a:lnSpc>
              <a:spcBef>
                <a:spcPts val="100"/>
              </a:spcBef>
            </a:pPr>
            <a:r>
              <a:rPr dirty="0"/>
              <a:t>Existing</a:t>
            </a:r>
            <a:r>
              <a:rPr spc="-35" dirty="0"/>
              <a:t> </a:t>
            </a:r>
            <a:r>
              <a:rPr dirty="0"/>
              <a:t>System</a:t>
            </a:r>
            <a:r>
              <a:rPr spc="-30" dirty="0"/>
              <a:t> </a:t>
            </a:r>
            <a:r>
              <a:rPr dirty="0"/>
              <a:t>and</a:t>
            </a:r>
            <a:r>
              <a:rPr spc="-30" dirty="0"/>
              <a:t> </a:t>
            </a:r>
            <a:r>
              <a:rPr dirty="0"/>
              <a:t>Its</a:t>
            </a:r>
            <a:r>
              <a:rPr spc="-30" dirty="0"/>
              <a:t> </a:t>
            </a:r>
            <a:r>
              <a:rPr spc="-10" dirty="0"/>
              <a:t>Limitations</a:t>
            </a:r>
          </a:p>
        </p:txBody>
      </p:sp>
      <p:sp>
        <p:nvSpPr>
          <p:cNvPr id="11" name="object 11"/>
          <p:cNvSpPr txBox="1"/>
          <p:nvPr/>
        </p:nvSpPr>
        <p:spPr>
          <a:xfrm>
            <a:off x="1787013" y="2486087"/>
            <a:ext cx="13916660" cy="6692986"/>
          </a:xfrm>
          <a:prstGeom prst="rect">
            <a:avLst/>
          </a:prstGeom>
        </p:spPr>
        <p:txBody>
          <a:bodyPr vert="horz" wrap="square" lIns="0" tIns="29845" rIns="0" bIns="0" rtlCol="0">
            <a:spAutoFit/>
          </a:bodyPr>
          <a:lstStyle/>
          <a:p>
            <a:pPr marL="457200" indent="-457200">
              <a:lnSpc>
                <a:spcPct val="130000"/>
              </a:lnSpc>
              <a:buFont typeface="Arial" panose="020B0604020202020204" pitchFamily="34" charset="0"/>
              <a:buChar char="•"/>
            </a:pPr>
            <a:r>
              <a:rPr lang="en-IN" sz="2800" dirty="0">
                <a:latin typeface="Arial Nova" panose="020B0504020202020204" pitchFamily="34" charset="0"/>
              </a:rPr>
              <a:t>Current AI-based medical diagnosis systems are primarily designed for single imaging modalities such as Chest X-ray, MRI, CT, retinal images, or dermatology images. Most existing approaches perform only disease classification without providing complete clinical assistance.</a:t>
            </a:r>
          </a:p>
          <a:p>
            <a:pPr>
              <a:lnSpc>
                <a:spcPct val="130000"/>
              </a:lnSpc>
            </a:pPr>
            <a:r>
              <a:rPr lang="en-IN" sz="2800" b="1" dirty="0">
                <a:latin typeface="Arial Nova" panose="020B0504020202020204" pitchFamily="34" charset="0"/>
              </a:rPr>
              <a:t>Limitations:</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Single-modality diagnosis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Limited localization capability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No lesion segmentation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No severity estimation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No retrieval-based medical knowledge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No structured clinical report generation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No interactive AI clinical assistant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828800" y="942078"/>
            <a:ext cx="7877172" cy="1042625"/>
          </a:xfrm>
          <a:prstGeom prst="rect">
            <a:avLst/>
          </a:prstGeom>
        </p:spPr>
        <p:txBody>
          <a:bodyPr vert="horz" wrap="square" lIns="0" tIns="143728" rIns="0" bIns="0" rtlCol="0">
            <a:spAutoFit/>
          </a:bodyPr>
          <a:lstStyle/>
          <a:p>
            <a:pPr marL="12700">
              <a:lnSpc>
                <a:spcPct val="100000"/>
              </a:lnSpc>
              <a:spcBef>
                <a:spcPts val="100"/>
              </a:spcBef>
            </a:pPr>
            <a:r>
              <a:rPr sz="4100" dirty="0"/>
              <a:t>Proposed</a:t>
            </a:r>
            <a:r>
              <a:rPr sz="4100" spc="-165" dirty="0"/>
              <a:t> </a:t>
            </a:r>
            <a:r>
              <a:rPr sz="4100" spc="-10" dirty="0"/>
              <a:t>Solution</a:t>
            </a:r>
            <a:endParaRPr sz="4100" dirty="0"/>
          </a:p>
        </p:txBody>
      </p:sp>
      <p:sp>
        <p:nvSpPr>
          <p:cNvPr id="13" name="object 13"/>
          <p:cNvSpPr txBox="1"/>
          <p:nvPr/>
        </p:nvSpPr>
        <p:spPr>
          <a:xfrm>
            <a:off x="1828800" y="1984703"/>
            <a:ext cx="13970437" cy="7253139"/>
          </a:xfrm>
          <a:prstGeom prst="rect">
            <a:avLst/>
          </a:prstGeom>
        </p:spPr>
        <p:txBody>
          <a:bodyPr vert="horz" wrap="square" lIns="0" tIns="29845" rIns="0" bIns="0" rtlCol="0">
            <a:spAutoFit/>
          </a:bodyPr>
          <a:lstStyle/>
          <a:p>
            <a:pPr marL="457200" indent="-457200">
              <a:lnSpc>
                <a:spcPct val="130000"/>
              </a:lnSpc>
              <a:buFont typeface="Arial" panose="020B0604020202020204" pitchFamily="34" charset="0"/>
              <a:buChar char="•"/>
            </a:pPr>
            <a:r>
              <a:rPr lang="en-IN" sz="2800" dirty="0">
                <a:latin typeface="Arial Nova" panose="020B0504020202020204" pitchFamily="34" charset="0"/>
              </a:rPr>
              <a:t>The proposed system integrates Vision-Language Foundation Models with modern Computer Vision and Large Language Models to create an end-to-end intelligent medical diagnosis platform.</a:t>
            </a:r>
          </a:p>
          <a:p>
            <a:pPr>
              <a:lnSpc>
                <a:spcPct val="130000"/>
              </a:lnSpc>
            </a:pPr>
            <a:r>
              <a:rPr lang="en-IN" sz="2800" b="1" dirty="0">
                <a:latin typeface="Arial Nova" panose="020B0504020202020204" pitchFamily="34" charset="0"/>
              </a:rPr>
              <a:t>Features:</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Automatic modality detection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Disease classification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Lesion localization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Lesion segmentation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Severity estimation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Specialist recommendation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Automated PDF clinical report generation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Retrieval-Augmented Generation (RAG)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AI Clinical Assistant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0489" rIns="0" bIns="0" rtlCol="0">
            <a:spAutoFit/>
          </a:bodyPr>
          <a:lstStyle/>
          <a:p>
            <a:pPr marL="349250">
              <a:lnSpc>
                <a:spcPct val="100000"/>
              </a:lnSpc>
              <a:spcBef>
                <a:spcPts val="100"/>
              </a:spcBef>
            </a:pPr>
            <a:r>
              <a:rPr dirty="0"/>
              <a:t>Proposed</a:t>
            </a:r>
            <a:r>
              <a:rPr spc="-120" dirty="0"/>
              <a:t> </a:t>
            </a:r>
            <a:r>
              <a:rPr spc="-10" dirty="0"/>
              <a:t>Methodology</a:t>
            </a:r>
          </a:p>
        </p:txBody>
      </p:sp>
      <p:pic>
        <p:nvPicPr>
          <p:cNvPr id="7" name="Picture 6">
            <a:extLst>
              <a:ext uri="{FF2B5EF4-FFF2-40B4-BE49-F238E27FC236}">
                <a16:creationId xmlns:a16="http://schemas.microsoft.com/office/drawing/2014/main" id="{C42A72BC-813A-7300-2C67-9DDD0C645A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247900"/>
            <a:ext cx="9950021" cy="3371951"/>
          </a:xfrm>
          <a:prstGeom prst="rect">
            <a:avLst/>
          </a:prstGeom>
        </p:spPr>
      </p:pic>
      <p:pic>
        <p:nvPicPr>
          <p:cNvPr id="9" name="Picture 8">
            <a:extLst>
              <a:ext uri="{FF2B5EF4-FFF2-40B4-BE49-F238E27FC236}">
                <a16:creationId xmlns:a16="http://schemas.microsoft.com/office/drawing/2014/main" id="{74DA7805-2D93-B8F6-3508-E98044088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5753100"/>
            <a:ext cx="13618229" cy="3042565"/>
          </a:xfrm>
          <a:prstGeom prst="rect">
            <a:avLst/>
          </a:prstGeom>
        </p:spPr>
      </p:pic>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C0B6DF96-BB8A-D6A7-83F7-BB26B1B3B6D0}"/>
                  </a:ext>
                </a:extLst>
              </p14:cNvPr>
              <p14:cNvContentPartPr/>
              <p14:nvPr/>
            </p14:nvContentPartPr>
            <p14:xfrm>
              <a:off x="11742690" y="4518780"/>
              <a:ext cx="957600" cy="360"/>
            </p14:xfrm>
          </p:contentPart>
        </mc:Choice>
        <mc:Fallback>
          <p:pic>
            <p:nvPicPr>
              <p:cNvPr id="12" name="Ink 11">
                <a:extLst>
                  <a:ext uri="{FF2B5EF4-FFF2-40B4-BE49-F238E27FC236}">
                    <a16:creationId xmlns:a16="http://schemas.microsoft.com/office/drawing/2014/main" id="{C0B6DF96-BB8A-D6A7-83F7-BB26B1B3B6D0}"/>
                  </a:ext>
                </a:extLst>
              </p:cNvPr>
              <p:cNvPicPr/>
              <p:nvPr/>
            </p:nvPicPr>
            <p:blipFill>
              <a:blip r:embed="rId5"/>
              <a:stretch>
                <a:fillRect/>
              </a:stretch>
            </p:blipFill>
            <p:spPr>
              <a:xfrm>
                <a:off x="11736570" y="4512660"/>
                <a:ext cx="9698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16A2F8C1-0E61-7CA6-9F74-94544B1F2DC1}"/>
                  </a:ext>
                </a:extLst>
              </p14:cNvPr>
              <p14:cNvContentPartPr/>
              <p14:nvPr/>
            </p14:nvContentPartPr>
            <p14:xfrm>
              <a:off x="12696330" y="4518420"/>
              <a:ext cx="360" cy="1098720"/>
            </p14:xfrm>
          </p:contentPart>
        </mc:Choice>
        <mc:Fallback>
          <p:pic>
            <p:nvPicPr>
              <p:cNvPr id="13" name="Ink 12">
                <a:extLst>
                  <a:ext uri="{FF2B5EF4-FFF2-40B4-BE49-F238E27FC236}">
                    <a16:creationId xmlns:a16="http://schemas.microsoft.com/office/drawing/2014/main" id="{16A2F8C1-0E61-7CA6-9F74-94544B1F2DC1}"/>
                  </a:ext>
                </a:extLst>
              </p:cNvPr>
              <p:cNvPicPr/>
              <p:nvPr/>
            </p:nvPicPr>
            <p:blipFill>
              <a:blip r:embed="rId7"/>
              <a:stretch>
                <a:fillRect/>
              </a:stretch>
            </p:blipFill>
            <p:spPr>
              <a:xfrm>
                <a:off x="12690210" y="4512300"/>
                <a:ext cx="12600" cy="1110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9FEB3C7A-2E2A-4B2A-8A06-DF633EF20FDF}"/>
                  </a:ext>
                </a:extLst>
              </p14:cNvPr>
              <p14:cNvContentPartPr/>
              <p14:nvPr/>
            </p14:nvContentPartPr>
            <p14:xfrm>
              <a:off x="8308650" y="5623620"/>
              <a:ext cx="4397760" cy="360"/>
            </p14:xfrm>
          </p:contentPart>
        </mc:Choice>
        <mc:Fallback>
          <p:pic>
            <p:nvPicPr>
              <p:cNvPr id="14" name="Ink 13">
                <a:extLst>
                  <a:ext uri="{FF2B5EF4-FFF2-40B4-BE49-F238E27FC236}">
                    <a16:creationId xmlns:a16="http://schemas.microsoft.com/office/drawing/2014/main" id="{9FEB3C7A-2E2A-4B2A-8A06-DF633EF20FDF}"/>
                  </a:ext>
                </a:extLst>
              </p:cNvPr>
              <p:cNvPicPr/>
              <p:nvPr/>
            </p:nvPicPr>
            <p:blipFill>
              <a:blip r:embed="rId9"/>
              <a:stretch>
                <a:fillRect/>
              </a:stretch>
            </p:blipFill>
            <p:spPr>
              <a:xfrm>
                <a:off x="8302530" y="5617500"/>
                <a:ext cx="44100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A3ED9556-3261-FC7A-FD12-AABF780E5B44}"/>
                  </a:ext>
                </a:extLst>
              </p14:cNvPr>
              <p14:cNvContentPartPr/>
              <p14:nvPr/>
            </p14:nvContentPartPr>
            <p14:xfrm>
              <a:off x="3196470" y="5623620"/>
              <a:ext cx="5369760" cy="360"/>
            </p14:xfrm>
          </p:contentPart>
        </mc:Choice>
        <mc:Fallback>
          <p:pic>
            <p:nvPicPr>
              <p:cNvPr id="15" name="Ink 14">
                <a:extLst>
                  <a:ext uri="{FF2B5EF4-FFF2-40B4-BE49-F238E27FC236}">
                    <a16:creationId xmlns:a16="http://schemas.microsoft.com/office/drawing/2014/main" id="{A3ED9556-3261-FC7A-FD12-AABF780E5B44}"/>
                  </a:ext>
                </a:extLst>
              </p:cNvPr>
              <p:cNvPicPr/>
              <p:nvPr/>
            </p:nvPicPr>
            <p:blipFill>
              <a:blip r:embed="rId11"/>
              <a:stretch>
                <a:fillRect/>
              </a:stretch>
            </p:blipFill>
            <p:spPr>
              <a:xfrm>
                <a:off x="3190350" y="5617500"/>
                <a:ext cx="53820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D9B542A4-C8B5-18B9-480D-0C51AB327EE8}"/>
                  </a:ext>
                </a:extLst>
              </p14:cNvPr>
              <p14:cNvContentPartPr/>
              <p14:nvPr/>
            </p14:nvContentPartPr>
            <p14:xfrm>
              <a:off x="3189990" y="5623080"/>
              <a:ext cx="360" cy="1652400"/>
            </p14:xfrm>
          </p:contentPart>
        </mc:Choice>
        <mc:Fallback>
          <p:pic>
            <p:nvPicPr>
              <p:cNvPr id="16" name="Ink 15">
                <a:extLst>
                  <a:ext uri="{FF2B5EF4-FFF2-40B4-BE49-F238E27FC236}">
                    <a16:creationId xmlns:a16="http://schemas.microsoft.com/office/drawing/2014/main" id="{D9B542A4-C8B5-18B9-480D-0C51AB327EE8}"/>
                  </a:ext>
                </a:extLst>
              </p:cNvPr>
              <p:cNvPicPr/>
              <p:nvPr/>
            </p:nvPicPr>
            <p:blipFill>
              <a:blip r:embed="rId13"/>
              <a:stretch>
                <a:fillRect/>
              </a:stretch>
            </p:blipFill>
            <p:spPr>
              <a:xfrm>
                <a:off x="3183870" y="5616960"/>
                <a:ext cx="12600" cy="1664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D832A734-CD3B-A4DB-06BD-9E0E083AD52C}"/>
                  </a:ext>
                </a:extLst>
              </p14:cNvPr>
              <p14:cNvContentPartPr/>
              <p14:nvPr/>
            </p14:nvContentPartPr>
            <p14:xfrm>
              <a:off x="3189990" y="7208520"/>
              <a:ext cx="360" cy="627120"/>
            </p14:xfrm>
          </p:contentPart>
        </mc:Choice>
        <mc:Fallback>
          <p:pic>
            <p:nvPicPr>
              <p:cNvPr id="17" name="Ink 16">
                <a:extLst>
                  <a:ext uri="{FF2B5EF4-FFF2-40B4-BE49-F238E27FC236}">
                    <a16:creationId xmlns:a16="http://schemas.microsoft.com/office/drawing/2014/main" id="{D832A734-CD3B-A4DB-06BD-9E0E083AD52C}"/>
                  </a:ext>
                </a:extLst>
              </p:cNvPr>
              <p:cNvPicPr/>
              <p:nvPr/>
            </p:nvPicPr>
            <p:blipFill>
              <a:blip r:embed="rId15"/>
              <a:stretch>
                <a:fillRect/>
              </a:stretch>
            </p:blipFill>
            <p:spPr>
              <a:xfrm>
                <a:off x="3183870" y="7202040"/>
                <a:ext cx="12600" cy="6393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CFAA5CF0-A105-FBB1-0DC3-A865A0DADE35}"/>
                  </a:ext>
                </a:extLst>
              </p14:cNvPr>
              <p14:cNvContentPartPr/>
              <p14:nvPr/>
            </p14:nvContentPartPr>
            <p14:xfrm>
              <a:off x="3195390" y="7844640"/>
              <a:ext cx="835200" cy="360"/>
            </p14:xfrm>
          </p:contentPart>
        </mc:Choice>
        <mc:Fallback>
          <p:pic>
            <p:nvPicPr>
              <p:cNvPr id="18" name="Ink 17">
                <a:extLst>
                  <a:ext uri="{FF2B5EF4-FFF2-40B4-BE49-F238E27FC236}">
                    <a16:creationId xmlns:a16="http://schemas.microsoft.com/office/drawing/2014/main" id="{CFAA5CF0-A105-FBB1-0DC3-A865A0DADE35}"/>
                  </a:ext>
                </a:extLst>
              </p:cNvPr>
              <p:cNvPicPr/>
              <p:nvPr/>
            </p:nvPicPr>
            <p:blipFill>
              <a:blip r:embed="rId17"/>
              <a:stretch>
                <a:fillRect/>
              </a:stretch>
            </p:blipFill>
            <p:spPr>
              <a:xfrm>
                <a:off x="3189270" y="7838520"/>
                <a:ext cx="8474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1E6DB6F3-493E-8B94-33F3-0D4A6BDE3DC0}"/>
                  </a:ext>
                </a:extLst>
              </p14:cNvPr>
              <p14:cNvContentPartPr/>
              <p14:nvPr/>
            </p14:nvContentPartPr>
            <p14:xfrm>
              <a:off x="3203310" y="7848240"/>
              <a:ext cx="850320" cy="360"/>
            </p14:xfrm>
          </p:contentPart>
        </mc:Choice>
        <mc:Fallback>
          <p:pic>
            <p:nvPicPr>
              <p:cNvPr id="19" name="Ink 18">
                <a:extLst>
                  <a:ext uri="{FF2B5EF4-FFF2-40B4-BE49-F238E27FC236}">
                    <a16:creationId xmlns:a16="http://schemas.microsoft.com/office/drawing/2014/main" id="{1E6DB6F3-493E-8B94-33F3-0D4A6BDE3DC0}"/>
                  </a:ext>
                </a:extLst>
              </p:cNvPr>
              <p:cNvPicPr/>
              <p:nvPr/>
            </p:nvPicPr>
            <p:blipFill>
              <a:blip r:embed="rId19"/>
              <a:stretch>
                <a:fillRect/>
              </a:stretch>
            </p:blipFill>
            <p:spPr>
              <a:xfrm>
                <a:off x="3197190" y="7842120"/>
                <a:ext cx="862560" cy="126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2209800" y="1257300"/>
            <a:ext cx="5867400" cy="705321"/>
          </a:xfrm>
          <a:prstGeom prst="rect">
            <a:avLst/>
          </a:prstGeom>
        </p:spPr>
        <p:txBody>
          <a:bodyPr vert="horz" wrap="square" lIns="0" tIns="12700" rIns="0" bIns="0" rtlCol="0">
            <a:spAutoFit/>
          </a:bodyPr>
          <a:lstStyle/>
          <a:p>
            <a:pPr marL="12700">
              <a:lnSpc>
                <a:spcPct val="100000"/>
              </a:lnSpc>
              <a:spcBef>
                <a:spcPts val="100"/>
              </a:spcBef>
            </a:pPr>
            <a:r>
              <a:rPr sz="4500" spc="-10" dirty="0"/>
              <a:t>Implementation</a:t>
            </a:r>
          </a:p>
        </p:txBody>
      </p:sp>
      <p:graphicFrame>
        <p:nvGraphicFramePr>
          <p:cNvPr id="4" name="Table 3">
            <a:extLst>
              <a:ext uri="{FF2B5EF4-FFF2-40B4-BE49-F238E27FC236}">
                <a16:creationId xmlns:a16="http://schemas.microsoft.com/office/drawing/2014/main" id="{DD05CC31-E583-4683-4469-6FFF0099DD54}"/>
              </a:ext>
            </a:extLst>
          </p:cNvPr>
          <p:cNvGraphicFramePr>
            <a:graphicFrameLocks noGrp="1"/>
          </p:cNvGraphicFramePr>
          <p:nvPr>
            <p:extLst>
              <p:ext uri="{D42A27DB-BD31-4B8C-83A1-F6EECF244321}">
                <p14:modId xmlns:p14="http://schemas.microsoft.com/office/powerpoint/2010/main" val="945713672"/>
              </p:ext>
            </p:extLst>
          </p:nvPr>
        </p:nvGraphicFramePr>
        <p:xfrm>
          <a:off x="2590800" y="2628900"/>
          <a:ext cx="10058400" cy="5943600"/>
        </p:xfrm>
        <a:graphic>
          <a:graphicData uri="http://schemas.openxmlformats.org/drawingml/2006/table">
            <a:tbl>
              <a:tblPr firstRow="1">
                <a:tableStyleId>{68D230F3-CF80-4859-8CE7-A43EE81993B5}</a:tableStyleId>
              </a:tblPr>
              <a:tblGrid>
                <a:gridCol w="5029200">
                  <a:extLst>
                    <a:ext uri="{9D8B030D-6E8A-4147-A177-3AD203B41FA5}">
                      <a16:colId xmlns:a16="http://schemas.microsoft.com/office/drawing/2014/main" val="3376943110"/>
                    </a:ext>
                  </a:extLst>
                </a:gridCol>
                <a:gridCol w="5029200">
                  <a:extLst>
                    <a:ext uri="{9D8B030D-6E8A-4147-A177-3AD203B41FA5}">
                      <a16:colId xmlns:a16="http://schemas.microsoft.com/office/drawing/2014/main" val="718362339"/>
                    </a:ext>
                  </a:extLst>
                </a:gridCol>
              </a:tblGrid>
              <a:tr h="495300">
                <a:tc>
                  <a:txBody>
                    <a:bodyPr/>
                    <a:lstStyle/>
                    <a:p>
                      <a:pPr algn="l">
                        <a:buNone/>
                      </a:pPr>
                      <a:r>
                        <a:rPr lang="en-IN" sz="2400"/>
                        <a:t>Module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dirty="0"/>
                        <a:t>Technology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3768967"/>
                  </a:ext>
                </a:extLst>
              </a:tr>
              <a:tr h="495300">
                <a:tc>
                  <a:txBody>
                    <a:bodyPr/>
                    <a:lstStyle/>
                    <a:p>
                      <a:pPr algn="l">
                        <a:buNone/>
                      </a:pPr>
                      <a:r>
                        <a:rPr lang="en-IN" sz="2400"/>
                        <a:t>Frontend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React.js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134038"/>
                  </a:ext>
                </a:extLst>
              </a:tr>
              <a:tr h="495300">
                <a:tc>
                  <a:txBody>
                    <a:bodyPr/>
                    <a:lstStyle/>
                    <a:p>
                      <a:pPr algn="l">
                        <a:buNone/>
                      </a:pPr>
                      <a:r>
                        <a:rPr lang="en-IN" sz="2400" dirty="0"/>
                        <a:t>Backend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FastAPI</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3413071"/>
                  </a:ext>
                </a:extLst>
              </a:tr>
              <a:tr h="495300">
                <a:tc>
                  <a:txBody>
                    <a:bodyPr/>
                    <a:lstStyle/>
                    <a:p>
                      <a:pPr algn="l">
                        <a:buNone/>
                      </a:pPr>
                      <a:r>
                        <a:rPr lang="en-IN" sz="2400" dirty="0"/>
                        <a:t>Database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MongoDB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847408"/>
                  </a:ext>
                </a:extLst>
              </a:tr>
              <a:tr h="495300">
                <a:tc>
                  <a:txBody>
                    <a:bodyPr/>
                    <a:lstStyle/>
                    <a:p>
                      <a:pPr algn="l">
                        <a:buNone/>
                      </a:pPr>
                      <a:r>
                        <a:rPr lang="en-IN" sz="2400" dirty="0"/>
                        <a:t>AI Framework</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PyTorch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1089662"/>
                  </a:ext>
                </a:extLst>
              </a:tr>
              <a:tr h="495300">
                <a:tc>
                  <a:txBody>
                    <a:bodyPr/>
                    <a:lstStyle/>
                    <a:p>
                      <a:pPr algn="l">
                        <a:buNone/>
                      </a:pPr>
                      <a:r>
                        <a:rPr lang="en-IN" sz="2400" dirty="0"/>
                        <a:t>RGB Vision Model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BiomedCLIP</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112427"/>
                  </a:ext>
                </a:extLst>
              </a:tr>
              <a:tr h="495300">
                <a:tc>
                  <a:txBody>
                    <a:bodyPr/>
                    <a:lstStyle/>
                    <a:p>
                      <a:pPr algn="l">
                        <a:buNone/>
                      </a:pPr>
                      <a:r>
                        <a:rPr lang="en-IN" sz="2400"/>
                        <a:t>Radiology Vision Model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Rad-DINO</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9180186"/>
                  </a:ext>
                </a:extLst>
              </a:tr>
              <a:tr h="495300">
                <a:tc>
                  <a:txBody>
                    <a:bodyPr/>
                    <a:lstStyle/>
                    <a:p>
                      <a:pPr algn="l">
                        <a:buNone/>
                      </a:pPr>
                      <a:r>
                        <a:rPr lang="en-IN" sz="2400"/>
                        <a:t>Detection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YOLOv11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0367586"/>
                  </a:ext>
                </a:extLst>
              </a:tr>
              <a:tr h="495300">
                <a:tc>
                  <a:txBody>
                    <a:bodyPr/>
                    <a:lstStyle/>
                    <a:p>
                      <a:pPr algn="l">
                        <a:buNone/>
                      </a:pPr>
                      <a:r>
                        <a:rPr lang="en-IN" sz="2400"/>
                        <a:t>Segmentation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SAM 2</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7411578"/>
                  </a:ext>
                </a:extLst>
              </a:tr>
              <a:tr h="495300">
                <a:tc>
                  <a:txBody>
                    <a:bodyPr/>
                    <a:lstStyle/>
                    <a:p>
                      <a:pPr algn="l">
                        <a:buNone/>
                      </a:pPr>
                      <a:r>
                        <a:rPr lang="en-IN" sz="2400"/>
                        <a:t>Knowledge Retrieval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RAG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9424921"/>
                  </a:ext>
                </a:extLst>
              </a:tr>
              <a:tr h="495300">
                <a:tc>
                  <a:txBody>
                    <a:bodyPr/>
                    <a:lstStyle/>
                    <a:p>
                      <a:pPr algn="l">
                        <a:buNone/>
                      </a:pPr>
                      <a:r>
                        <a:rPr lang="en-IN" sz="2400"/>
                        <a:t>Report Generation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a:t>Large Language Model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960210"/>
                  </a:ext>
                </a:extLst>
              </a:tr>
              <a:tr h="495300">
                <a:tc>
                  <a:txBody>
                    <a:bodyPr/>
                    <a:lstStyle/>
                    <a:p>
                      <a:pPr algn="l">
                        <a:buNone/>
                      </a:pPr>
                      <a:r>
                        <a:rPr lang="en-IN" sz="2400"/>
                        <a:t>PDF Generation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buNone/>
                      </a:pPr>
                      <a:r>
                        <a:rPr lang="en-IN" sz="2400" dirty="0" err="1"/>
                        <a:t>ReportLab</a:t>
                      </a:r>
                      <a:endParaRPr lang="en-IN" sz="24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137341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01907" y="1911702"/>
            <a:ext cx="7513493" cy="6660798"/>
          </a:xfrm>
          <a:prstGeom prst="rect">
            <a:avLst/>
          </a:prstGeom>
        </p:spPr>
        <p:txBody>
          <a:bodyPr vert="horz" wrap="square" lIns="0" tIns="12700" rIns="0" bIns="0" rtlCol="0">
            <a:spAutoFit/>
          </a:bodyPr>
          <a:lstStyle/>
          <a:p>
            <a:r>
              <a:rPr lang="en-IN" sz="2400" b="1" dirty="0"/>
              <a:t>Algorithm 1: Modality Classification</a:t>
            </a:r>
          </a:p>
          <a:p>
            <a:r>
              <a:rPr lang="en-IN" sz="2400" b="1" dirty="0"/>
              <a:t>Purpose</a:t>
            </a:r>
            <a:endParaRPr lang="en-IN" sz="2400" dirty="0"/>
          </a:p>
          <a:p>
            <a:r>
              <a:rPr lang="en-IN" sz="2400" dirty="0"/>
              <a:t>Identify whether the uploaded medical image is a visible-light image or a radiological scan.</a:t>
            </a:r>
          </a:p>
          <a:p>
            <a:r>
              <a:rPr lang="en-IN" sz="2400" b="1" dirty="0"/>
              <a:t>Algorithm</a:t>
            </a:r>
            <a:endParaRPr lang="en-IN" sz="2400" dirty="0"/>
          </a:p>
          <a:p>
            <a:r>
              <a:rPr lang="en-IN" sz="2400" dirty="0"/>
              <a:t>Accept uploaded image.</a:t>
            </a:r>
          </a:p>
          <a:p>
            <a:r>
              <a:rPr lang="en-IN" sz="2400" dirty="0"/>
              <a:t>Extract visual features.</a:t>
            </a:r>
          </a:p>
          <a:p>
            <a:r>
              <a:rPr lang="en-IN" sz="2400" dirty="0"/>
              <a:t>Classify image modality.</a:t>
            </a:r>
          </a:p>
          <a:p>
            <a:r>
              <a:rPr lang="en-IN" sz="2400" dirty="0"/>
              <a:t>Route image to the appropriate foundation model.</a:t>
            </a:r>
          </a:p>
          <a:p>
            <a:endParaRPr lang="en-IN" sz="2400" dirty="0"/>
          </a:p>
          <a:p>
            <a:r>
              <a:rPr lang="en-IN" sz="2400" b="1" dirty="0"/>
              <a:t>Algorithm 2: Disease Classification</a:t>
            </a:r>
          </a:p>
          <a:p>
            <a:r>
              <a:rPr lang="en-IN" sz="2400" b="1" dirty="0"/>
              <a:t>Input</a:t>
            </a:r>
            <a:endParaRPr lang="en-IN" sz="2400" dirty="0"/>
          </a:p>
          <a:p>
            <a:r>
              <a:rPr lang="en-IN" sz="2400" dirty="0"/>
              <a:t>Medical Image</a:t>
            </a:r>
          </a:p>
          <a:p>
            <a:r>
              <a:rPr lang="en-IN" sz="2400" b="1" dirty="0"/>
              <a:t>Process</a:t>
            </a:r>
            <a:endParaRPr lang="en-IN" sz="2400" dirty="0"/>
          </a:p>
          <a:p>
            <a:r>
              <a:rPr lang="en-IN" sz="2400" dirty="0"/>
              <a:t>Extract image embeddings.</a:t>
            </a:r>
          </a:p>
          <a:p>
            <a:r>
              <a:rPr lang="en-IN" sz="2400" dirty="0"/>
              <a:t>Compare with learned disease representations.</a:t>
            </a:r>
          </a:p>
          <a:p>
            <a:r>
              <a:rPr lang="en-IN" sz="2400" dirty="0"/>
              <a:t>Predict disease class.</a:t>
            </a:r>
          </a:p>
          <a:p>
            <a:r>
              <a:rPr lang="en-IN" sz="2400" dirty="0"/>
              <a:t>Generate confidence score.</a:t>
            </a:r>
          </a:p>
        </p:txBody>
      </p:sp>
      <p:sp>
        <p:nvSpPr>
          <p:cNvPr id="4" name="object 4" descr="$PPTXTitle"/>
          <p:cNvSpPr txBox="1">
            <a:spLocks noGrp="1"/>
          </p:cNvSpPr>
          <p:nvPr>
            <p:ph type="title"/>
          </p:nvPr>
        </p:nvSpPr>
        <p:spPr>
          <a:xfrm>
            <a:off x="1401907" y="864784"/>
            <a:ext cx="7353934" cy="642620"/>
          </a:xfrm>
          <a:prstGeom prst="rect">
            <a:avLst/>
          </a:prstGeom>
        </p:spPr>
        <p:txBody>
          <a:bodyPr vert="horz" wrap="square" lIns="0" tIns="12700" rIns="0" bIns="0" rtlCol="0">
            <a:spAutoFit/>
          </a:bodyPr>
          <a:lstStyle/>
          <a:p>
            <a:pPr marL="12700">
              <a:lnSpc>
                <a:spcPct val="100000"/>
              </a:lnSpc>
              <a:spcBef>
                <a:spcPts val="100"/>
              </a:spcBef>
            </a:pPr>
            <a:r>
              <a:rPr spc="-10" dirty="0"/>
              <a:t>Implementation</a:t>
            </a:r>
            <a:r>
              <a:rPr spc="-75" dirty="0"/>
              <a:t> </a:t>
            </a:r>
            <a:r>
              <a:rPr dirty="0"/>
              <a:t>-</a:t>
            </a:r>
            <a:r>
              <a:rPr spc="-60" dirty="0"/>
              <a:t> </a:t>
            </a:r>
            <a:r>
              <a:rPr dirty="0"/>
              <a:t>1:</a:t>
            </a:r>
            <a:r>
              <a:rPr spc="-60" dirty="0"/>
              <a:t> </a:t>
            </a:r>
            <a:r>
              <a:rPr spc="-10" dirty="0"/>
              <a:t>(Algorithms)</a:t>
            </a:r>
          </a:p>
        </p:txBody>
      </p:sp>
      <p:sp>
        <p:nvSpPr>
          <p:cNvPr id="5" name="TextBox 4">
            <a:extLst>
              <a:ext uri="{FF2B5EF4-FFF2-40B4-BE49-F238E27FC236}">
                <a16:creationId xmlns:a16="http://schemas.microsoft.com/office/drawing/2014/main" id="{B1E4AEEA-63FD-25D1-A2FC-80AF5914DB21}"/>
              </a:ext>
            </a:extLst>
          </p:cNvPr>
          <p:cNvSpPr txBox="1"/>
          <p:nvPr/>
        </p:nvSpPr>
        <p:spPr>
          <a:xfrm>
            <a:off x="9144000" y="1790700"/>
            <a:ext cx="7620000" cy="7848302"/>
          </a:xfrm>
          <a:prstGeom prst="rect">
            <a:avLst/>
          </a:prstGeom>
          <a:noFill/>
        </p:spPr>
        <p:txBody>
          <a:bodyPr wrap="square" rtlCol="0">
            <a:spAutoFit/>
          </a:bodyPr>
          <a:lstStyle/>
          <a:p>
            <a:r>
              <a:rPr lang="en-IN" sz="2400" b="1" dirty="0"/>
              <a:t>Algorithm 3: Lesion Localization &amp; Segmentation</a:t>
            </a:r>
          </a:p>
          <a:p>
            <a:r>
              <a:rPr lang="en-IN" sz="2400" b="1" dirty="0"/>
              <a:t>Input</a:t>
            </a:r>
            <a:endParaRPr lang="en-IN" sz="2400" dirty="0"/>
          </a:p>
          <a:p>
            <a:r>
              <a:rPr lang="en-IN" sz="2400" dirty="0"/>
              <a:t>Medical Image</a:t>
            </a:r>
          </a:p>
          <a:p>
            <a:r>
              <a:rPr lang="en-IN" sz="2400" dirty="0"/>
              <a:t>↓</a:t>
            </a:r>
          </a:p>
          <a:p>
            <a:r>
              <a:rPr lang="en-IN" sz="2400" dirty="0"/>
              <a:t>YOLOv11 Detection</a:t>
            </a:r>
          </a:p>
          <a:p>
            <a:r>
              <a:rPr lang="en-IN" sz="2400" dirty="0"/>
              <a:t>↓</a:t>
            </a:r>
          </a:p>
          <a:p>
            <a:r>
              <a:rPr lang="en-IN" sz="2400" dirty="0"/>
              <a:t>SAM 2 Segmentation</a:t>
            </a:r>
          </a:p>
          <a:p>
            <a:r>
              <a:rPr lang="en-IN" sz="2400" dirty="0"/>
              <a:t>↓</a:t>
            </a:r>
          </a:p>
          <a:p>
            <a:r>
              <a:rPr lang="en-IN" sz="2400" dirty="0"/>
              <a:t>Localized Disease Region</a:t>
            </a:r>
          </a:p>
          <a:p>
            <a:endParaRPr lang="en-IN" sz="2400" dirty="0"/>
          </a:p>
          <a:p>
            <a:r>
              <a:rPr lang="en-IN" sz="2400" b="1" dirty="0"/>
              <a:t>Algorithm 4: Clinical Report Generation</a:t>
            </a:r>
          </a:p>
          <a:p>
            <a:r>
              <a:rPr lang="en-IN" sz="2400" dirty="0"/>
              <a:t>Collect</a:t>
            </a:r>
          </a:p>
          <a:p>
            <a:r>
              <a:rPr lang="en-IN" sz="2400" dirty="0"/>
              <a:t>Disease prediction</a:t>
            </a:r>
          </a:p>
          <a:p>
            <a:r>
              <a:rPr lang="en-IN" sz="2400" dirty="0"/>
              <a:t>Localization result</a:t>
            </a:r>
          </a:p>
          <a:p>
            <a:r>
              <a:rPr lang="en-IN" sz="2400" dirty="0"/>
              <a:t>Severity estimation</a:t>
            </a:r>
          </a:p>
          <a:p>
            <a:r>
              <a:rPr lang="en-IN" sz="2400" dirty="0"/>
              <a:t>Retrieved medical knowledge</a:t>
            </a:r>
          </a:p>
          <a:p>
            <a:r>
              <a:rPr lang="en-IN" sz="2400" dirty="0"/>
              <a:t>↓</a:t>
            </a:r>
          </a:p>
          <a:p>
            <a:r>
              <a:rPr lang="en-IN" sz="2400" dirty="0"/>
              <a:t>Large Language Model</a:t>
            </a:r>
          </a:p>
          <a:p>
            <a:r>
              <a:rPr lang="en-IN" sz="2400" dirty="0"/>
              <a:t>↓</a:t>
            </a:r>
          </a:p>
          <a:p>
            <a:r>
              <a:rPr lang="en-IN" sz="2400" dirty="0"/>
              <a:t>Structured Clinical Report (PDF)</a:t>
            </a:r>
          </a:p>
          <a:p>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238760">
              <a:lnSpc>
                <a:spcPct val="100000"/>
              </a:lnSpc>
              <a:spcBef>
                <a:spcPts val="100"/>
              </a:spcBef>
            </a:pPr>
            <a:r>
              <a:rPr spc="-10" dirty="0"/>
              <a:t>Implementation</a:t>
            </a:r>
            <a:r>
              <a:rPr spc="-75" dirty="0"/>
              <a:t> </a:t>
            </a:r>
            <a:r>
              <a:rPr dirty="0"/>
              <a:t>-</a:t>
            </a:r>
            <a:r>
              <a:rPr spc="-60" dirty="0"/>
              <a:t> </a:t>
            </a:r>
            <a:r>
              <a:rPr dirty="0"/>
              <a:t>2:</a:t>
            </a:r>
            <a:r>
              <a:rPr spc="-60" dirty="0"/>
              <a:t> </a:t>
            </a:r>
            <a:r>
              <a:rPr spc="-10" dirty="0"/>
              <a:t>(ScreenShots)</a:t>
            </a:r>
          </a:p>
        </p:txBody>
      </p:sp>
      <p:pic>
        <p:nvPicPr>
          <p:cNvPr id="6" name="Picture 5">
            <a:extLst>
              <a:ext uri="{FF2B5EF4-FFF2-40B4-BE49-F238E27FC236}">
                <a16:creationId xmlns:a16="http://schemas.microsoft.com/office/drawing/2014/main" id="{B55BB5C7-29B5-6D15-F931-04246F1BC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9532" y="1931519"/>
            <a:ext cx="9895541" cy="4656118"/>
          </a:xfrm>
          <a:prstGeom prst="rect">
            <a:avLst/>
          </a:prstGeom>
        </p:spPr>
      </p:pic>
      <p:pic>
        <p:nvPicPr>
          <p:cNvPr id="8" name="Picture 7">
            <a:extLst>
              <a:ext uri="{FF2B5EF4-FFF2-40B4-BE49-F238E27FC236}">
                <a16:creationId xmlns:a16="http://schemas.microsoft.com/office/drawing/2014/main" id="{3DF433E1-6F38-5EA3-8BBE-10ADB42E94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9816" y="4381500"/>
            <a:ext cx="10930514" cy="51773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00200" y="1081150"/>
            <a:ext cx="7877172" cy="1042625"/>
          </a:xfrm>
          <a:prstGeom prst="rect">
            <a:avLst/>
          </a:prstGeom>
        </p:spPr>
        <p:txBody>
          <a:bodyPr vert="horz" wrap="square" lIns="0" tIns="405085" rIns="0" bIns="0" rtlCol="0">
            <a:spAutoFit/>
          </a:bodyPr>
          <a:lstStyle/>
          <a:p>
            <a:pPr marL="501650">
              <a:lnSpc>
                <a:spcPct val="100000"/>
              </a:lnSpc>
              <a:spcBef>
                <a:spcPts val="100"/>
              </a:spcBef>
            </a:pPr>
            <a:r>
              <a:rPr sz="4100" spc="-10" dirty="0"/>
              <a:t>Conclusion</a:t>
            </a:r>
            <a:endParaRPr sz="4100" dirty="0"/>
          </a:p>
        </p:txBody>
      </p:sp>
      <p:sp>
        <p:nvSpPr>
          <p:cNvPr id="6" name="object 6"/>
          <p:cNvSpPr txBox="1"/>
          <p:nvPr/>
        </p:nvSpPr>
        <p:spPr>
          <a:xfrm>
            <a:off x="1600200" y="2637237"/>
            <a:ext cx="13604122" cy="5012526"/>
          </a:xfrm>
          <a:prstGeom prst="rect">
            <a:avLst/>
          </a:prstGeom>
        </p:spPr>
        <p:txBody>
          <a:bodyPr vert="horz" wrap="square" lIns="0" tIns="29845" rIns="0" bIns="0" rtlCol="0">
            <a:spAutoFit/>
          </a:bodyPr>
          <a:lstStyle/>
          <a:p>
            <a:pPr marL="457200" indent="-457200">
              <a:lnSpc>
                <a:spcPct val="130000"/>
              </a:lnSpc>
              <a:buFont typeface="Arial" panose="020B0604020202020204" pitchFamily="34" charset="0"/>
              <a:buChar char="•"/>
            </a:pPr>
            <a:r>
              <a:rPr lang="en-IN" sz="2800" dirty="0">
                <a:latin typeface="Arial Nova" panose="020B0504020202020204" pitchFamily="34" charset="0"/>
              </a:rPr>
              <a:t>This project presents an intelligent multimodal medical image analysis platform inspired by recent advances in Vision-Language Foundation Models. The proposed framework combines disease classification, lesion localization, segmentation, severity estimation, Retrieval-Augmented Generation, and automated clinical report generation within a unified pipeline.</a:t>
            </a:r>
          </a:p>
          <a:p>
            <a:pPr marL="457200" indent="-457200">
              <a:lnSpc>
                <a:spcPct val="130000"/>
              </a:lnSpc>
              <a:buFont typeface="Arial" panose="020B0604020202020204" pitchFamily="34" charset="0"/>
              <a:buChar char="•"/>
            </a:pPr>
            <a:r>
              <a:rPr lang="en-IN" sz="2800" dirty="0">
                <a:latin typeface="Arial Nova" panose="020B0504020202020204" pitchFamily="34" charset="0"/>
              </a:rPr>
              <a:t>By integrating foundation models with modern computer vision and language models, the system provides comprehensive clinical decision support while improving diagnostic efficiency, explainability, and accessibility. The architecture also serves as a scalable foundation for future hospital-grade AI diagnostic systems.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09800" y="2095500"/>
            <a:ext cx="7877172" cy="1042625"/>
          </a:xfrm>
          <a:prstGeom prst="rect">
            <a:avLst/>
          </a:prstGeom>
        </p:spPr>
        <p:txBody>
          <a:bodyPr vert="horz" wrap="square" lIns="0" tIns="396068" rIns="0" bIns="0" rtlCol="0">
            <a:spAutoFit/>
          </a:bodyPr>
          <a:lstStyle/>
          <a:p>
            <a:pPr marL="485140">
              <a:lnSpc>
                <a:spcPct val="100000"/>
              </a:lnSpc>
              <a:spcBef>
                <a:spcPts val="100"/>
              </a:spcBef>
            </a:pPr>
            <a:r>
              <a:rPr dirty="0"/>
              <a:t>Future</a:t>
            </a:r>
            <a:r>
              <a:rPr spc="-95" dirty="0"/>
              <a:t> </a:t>
            </a:r>
            <a:r>
              <a:rPr spc="-10" dirty="0"/>
              <a:t>Enhancement</a:t>
            </a:r>
          </a:p>
        </p:txBody>
      </p:sp>
      <p:sp>
        <p:nvSpPr>
          <p:cNvPr id="12" name="object 12"/>
          <p:cNvSpPr txBox="1"/>
          <p:nvPr/>
        </p:nvSpPr>
        <p:spPr>
          <a:xfrm>
            <a:off x="2971800" y="3619500"/>
            <a:ext cx="8365379" cy="4434419"/>
          </a:xfrm>
          <a:prstGeom prst="rect">
            <a:avLst/>
          </a:prstGeom>
        </p:spPr>
        <p:txBody>
          <a:bodyPr vert="horz" wrap="square" lIns="0" tIns="12065" rIns="0" bIns="0" rtlCol="0">
            <a:spAutoFit/>
          </a:bodyPr>
          <a:lstStyle/>
          <a:p>
            <a:pPr marL="457200" lvl="0" indent="-457200">
              <a:lnSpc>
                <a:spcPct val="130000"/>
              </a:lnSpc>
              <a:buFont typeface="Arial" panose="020B0604020202020204" pitchFamily="34" charset="0"/>
              <a:buChar char="•"/>
            </a:pPr>
            <a:r>
              <a:rPr lang="en-IN" sz="2800" dirty="0">
                <a:latin typeface="Arial Nova" panose="020B0504020202020204" pitchFamily="34" charset="0"/>
              </a:rPr>
              <a:t>Support additional imaging modalities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Fine-tune medical Vision-Language Models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Multi-image temporal reasoning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Electronic Health Record integration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Federated learning across hospitals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Explainable AI visualization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Real-time hospital deployment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Continuous learning using clinician feedback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828800" y="1067164"/>
            <a:ext cx="7877172" cy="1042625"/>
          </a:xfrm>
          <a:prstGeom prst="rect">
            <a:avLst/>
          </a:prstGeom>
        </p:spPr>
        <p:txBody>
          <a:bodyPr vert="horz" wrap="square" lIns="0" tIns="140489" rIns="0" bIns="0" rtlCol="0">
            <a:spAutoFit/>
          </a:bodyPr>
          <a:lstStyle/>
          <a:p>
            <a:pPr marL="264160">
              <a:lnSpc>
                <a:spcPct val="100000"/>
              </a:lnSpc>
              <a:spcBef>
                <a:spcPts val="100"/>
              </a:spcBef>
            </a:pPr>
            <a:r>
              <a:rPr spc="-10" dirty="0"/>
              <a:t>References</a:t>
            </a:r>
          </a:p>
        </p:txBody>
      </p:sp>
      <p:sp>
        <p:nvSpPr>
          <p:cNvPr id="10" name="object 10"/>
          <p:cNvSpPr txBox="1">
            <a:spLocks noGrp="1"/>
          </p:cNvSpPr>
          <p:nvPr>
            <p:ph type="body" idx="1"/>
          </p:nvPr>
        </p:nvSpPr>
        <p:spPr>
          <a:xfrm>
            <a:off x="1828800" y="2109789"/>
            <a:ext cx="13838555" cy="7349961"/>
          </a:xfrm>
          <a:prstGeom prst="rect">
            <a:avLst/>
          </a:prstGeom>
        </p:spPr>
        <p:txBody>
          <a:bodyPr vert="horz" wrap="square" lIns="0" tIns="125730" rIns="0" bIns="0" rtlCol="0">
            <a:spAutoFit/>
          </a:bodyPr>
          <a:lstStyle/>
          <a:p>
            <a:pPr marL="457200" lvl="0" indent="-457200">
              <a:lnSpc>
                <a:spcPct val="130000"/>
              </a:lnSpc>
              <a:buFont typeface="Arial" panose="020B0604020202020204" pitchFamily="34" charset="0"/>
              <a:buChar char="•"/>
            </a:pPr>
            <a:r>
              <a:rPr lang="en-IN" sz="2800" dirty="0">
                <a:latin typeface="Arial Nova" panose="020B0504020202020204" pitchFamily="34" charset="0"/>
              </a:rPr>
              <a:t>Dasgupt, S., et al. </a:t>
            </a:r>
            <a:r>
              <a:rPr lang="en-IN" sz="2800" b="1" dirty="0">
                <a:latin typeface="Arial Nova" panose="020B0504020202020204" pitchFamily="34" charset="0"/>
              </a:rPr>
              <a:t>Vision-Language Models in Medical Applications: A Review.</a:t>
            </a:r>
            <a:r>
              <a:rPr lang="en-IN" sz="2800" dirty="0">
                <a:latin typeface="Arial Nova" panose="020B0504020202020204" pitchFamily="34" charset="0"/>
              </a:rPr>
              <a:t> </a:t>
            </a:r>
            <a:r>
              <a:rPr lang="en-IN" sz="2800" i="1" dirty="0">
                <a:latin typeface="Arial Nova" panose="020B0504020202020204" pitchFamily="34" charset="0"/>
              </a:rPr>
              <a:t>IEEE Access</a:t>
            </a:r>
            <a:r>
              <a:rPr lang="en-IN" sz="2800" dirty="0">
                <a:latin typeface="Arial Nova" panose="020B0504020202020204" pitchFamily="34" charset="0"/>
              </a:rPr>
              <a:t>, Vol. 14, 2026.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Zhang, Y., et al. </a:t>
            </a:r>
            <a:r>
              <a:rPr lang="en-IN" sz="2800" b="1" dirty="0" err="1">
                <a:latin typeface="Arial Nova" panose="020B0504020202020204" pitchFamily="34" charset="0"/>
              </a:rPr>
              <a:t>BiomedCLIP</a:t>
            </a:r>
            <a:r>
              <a:rPr lang="en-IN" sz="2800" b="1" dirty="0">
                <a:latin typeface="Arial Nova" panose="020B0504020202020204" pitchFamily="34" charset="0"/>
              </a:rPr>
              <a:t>: A Multimodal Biomedical Foundation Model Pretrained from Fifteen Million Scientific Image-Text Pairs.</a:t>
            </a:r>
            <a:r>
              <a:rPr lang="en-IN" sz="2800" dirty="0">
                <a:latin typeface="Arial Nova" panose="020B0504020202020204" pitchFamily="34" charset="0"/>
              </a:rPr>
              <a:t> </a:t>
            </a:r>
            <a:r>
              <a:rPr lang="en-IN" sz="2800" i="1" dirty="0" err="1">
                <a:latin typeface="Arial Nova" panose="020B0504020202020204" pitchFamily="34" charset="0"/>
              </a:rPr>
              <a:t>NeurIPS</a:t>
            </a:r>
            <a:r>
              <a:rPr lang="en-IN" sz="2800" dirty="0">
                <a:latin typeface="Arial Nova" panose="020B0504020202020204" pitchFamily="34" charset="0"/>
              </a:rPr>
              <a:t>, 2023.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Kirillov, A., et al. </a:t>
            </a:r>
            <a:r>
              <a:rPr lang="en-IN" sz="2800" b="1" dirty="0">
                <a:latin typeface="Arial Nova" panose="020B0504020202020204" pitchFamily="34" charset="0"/>
              </a:rPr>
              <a:t>Segment Anything.</a:t>
            </a:r>
            <a:r>
              <a:rPr lang="en-IN" sz="2800" dirty="0">
                <a:latin typeface="Arial Nova" panose="020B0504020202020204" pitchFamily="34" charset="0"/>
              </a:rPr>
              <a:t> </a:t>
            </a:r>
            <a:r>
              <a:rPr lang="en-IN" sz="2800" i="1" dirty="0">
                <a:latin typeface="Arial Nova" panose="020B0504020202020204" pitchFamily="34" charset="0"/>
              </a:rPr>
              <a:t>Proceedings of the IEEE/CVF International Conference on Computer Vision (ICCV)</a:t>
            </a:r>
            <a:r>
              <a:rPr lang="en-IN" sz="2800" dirty="0">
                <a:latin typeface="Arial Nova" panose="020B0504020202020204" pitchFamily="34" charset="0"/>
              </a:rPr>
              <a:t>, 2023. </a:t>
            </a:r>
          </a:p>
          <a:p>
            <a:pPr marL="457200" lvl="0" indent="-457200">
              <a:lnSpc>
                <a:spcPct val="130000"/>
              </a:lnSpc>
              <a:buFont typeface="Arial" panose="020B0604020202020204" pitchFamily="34" charset="0"/>
              <a:buChar char="•"/>
            </a:pPr>
            <a:r>
              <a:rPr lang="en-IN" sz="2800" dirty="0" err="1">
                <a:latin typeface="Arial Nova" panose="020B0504020202020204" pitchFamily="34" charset="0"/>
              </a:rPr>
              <a:t>Jocher</a:t>
            </a:r>
            <a:r>
              <a:rPr lang="en-IN" sz="2800" dirty="0">
                <a:latin typeface="Arial Nova" panose="020B0504020202020204" pitchFamily="34" charset="0"/>
              </a:rPr>
              <a:t>, G., et al. </a:t>
            </a:r>
            <a:r>
              <a:rPr lang="en-IN" sz="2800" b="1" dirty="0">
                <a:latin typeface="Arial Nova" panose="020B0504020202020204" pitchFamily="34" charset="0"/>
              </a:rPr>
              <a:t>YOLO: Real-Time Object Detection.</a:t>
            </a:r>
            <a:r>
              <a:rPr lang="en-IN" sz="2800" dirty="0">
                <a:latin typeface="Arial Nova" panose="020B0504020202020204" pitchFamily="34" charset="0"/>
              </a:rPr>
              <a:t> </a:t>
            </a:r>
            <a:r>
              <a:rPr lang="en-IN" sz="2800" dirty="0" err="1">
                <a:latin typeface="Arial Nova" panose="020B0504020202020204" pitchFamily="34" charset="0"/>
              </a:rPr>
              <a:t>Ultralytics</a:t>
            </a:r>
            <a:r>
              <a:rPr lang="en-IN" sz="2800" dirty="0">
                <a:latin typeface="Arial Nova" panose="020B0504020202020204" pitchFamily="34" charset="0"/>
              </a:rPr>
              <a:t> Documentation.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Lewis, P., et al. </a:t>
            </a:r>
            <a:r>
              <a:rPr lang="en-IN" sz="2800" b="1" dirty="0">
                <a:latin typeface="Arial Nova" panose="020B0504020202020204" pitchFamily="34" charset="0"/>
              </a:rPr>
              <a:t>Retrieval-Augmented Generation for Knowledge-Intensive NLP Tasks.</a:t>
            </a:r>
            <a:r>
              <a:rPr lang="en-IN" sz="2800" dirty="0">
                <a:latin typeface="Arial Nova" panose="020B0504020202020204" pitchFamily="34" charset="0"/>
              </a:rPr>
              <a:t> </a:t>
            </a:r>
            <a:r>
              <a:rPr lang="en-IN" sz="2800" i="1" dirty="0" err="1">
                <a:latin typeface="Arial Nova" panose="020B0504020202020204" pitchFamily="34" charset="0"/>
              </a:rPr>
              <a:t>NeurIPS</a:t>
            </a:r>
            <a:r>
              <a:rPr lang="en-IN" sz="2800" dirty="0">
                <a:latin typeface="Arial Nova" panose="020B0504020202020204" pitchFamily="34" charset="0"/>
              </a:rPr>
              <a:t>, 2020. </a:t>
            </a:r>
          </a:p>
          <a:p>
            <a:pPr marL="457200" lvl="0" indent="-457200">
              <a:lnSpc>
                <a:spcPct val="130000"/>
              </a:lnSpc>
              <a:buFont typeface="Arial" panose="020B0604020202020204" pitchFamily="34" charset="0"/>
              <a:buChar char="•"/>
            </a:pPr>
            <a:r>
              <a:rPr lang="en-IN" sz="2800" dirty="0">
                <a:latin typeface="Arial Nova" panose="020B0504020202020204" pitchFamily="34" charset="0"/>
              </a:rPr>
              <a:t>Radford, A., et al. </a:t>
            </a:r>
            <a:r>
              <a:rPr lang="en-IN" sz="2800" b="1" dirty="0">
                <a:latin typeface="Arial Nova" panose="020B0504020202020204" pitchFamily="34" charset="0"/>
              </a:rPr>
              <a:t>Learning Transferable Visual Models from Natural Language Supervision (CLIP).</a:t>
            </a:r>
            <a:r>
              <a:rPr lang="en-IN" sz="2800" dirty="0">
                <a:latin typeface="Arial Nova" panose="020B0504020202020204" pitchFamily="34" charset="0"/>
              </a:rPr>
              <a:t> </a:t>
            </a:r>
            <a:r>
              <a:rPr lang="en-IN" sz="2800" i="1" dirty="0">
                <a:latin typeface="Arial Nova" panose="020B0504020202020204" pitchFamily="34" charset="0"/>
              </a:rPr>
              <a:t>ICML</a:t>
            </a:r>
            <a:r>
              <a:rPr lang="en-IN" sz="2800" dirty="0">
                <a:latin typeface="Arial Nova" panose="020B0504020202020204" pitchFamily="34" charset="0"/>
              </a:rPr>
              <a:t>, 2021. </a:t>
            </a:r>
          </a:p>
          <a:p>
            <a:pPr marL="457200" lvl="0" indent="-457200">
              <a:lnSpc>
                <a:spcPct val="130000"/>
              </a:lnSpc>
              <a:buFont typeface="Arial" panose="020B0604020202020204" pitchFamily="34" charset="0"/>
              <a:buChar char="•"/>
            </a:pPr>
            <a:r>
              <a:rPr lang="en-IN" sz="2800" dirty="0" err="1">
                <a:latin typeface="Arial Nova" panose="020B0504020202020204" pitchFamily="34" charset="0"/>
              </a:rPr>
              <a:t>Oquab</a:t>
            </a:r>
            <a:r>
              <a:rPr lang="en-IN" sz="2800" dirty="0">
                <a:latin typeface="Arial Nova" panose="020B0504020202020204" pitchFamily="34" charset="0"/>
              </a:rPr>
              <a:t>, M., et al. </a:t>
            </a:r>
            <a:r>
              <a:rPr lang="en-IN" sz="2800" b="1" dirty="0">
                <a:latin typeface="Arial Nova" panose="020B0504020202020204" pitchFamily="34" charset="0"/>
              </a:rPr>
              <a:t>DINOv2: Learning Robust Visual Features without Supervision.</a:t>
            </a:r>
            <a:r>
              <a:rPr lang="en-IN" sz="2800" dirty="0">
                <a:latin typeface="Arial Nova" panose="020B0504020202020204" pitchFamily="34" charset="0"/>
              </a:rPr>
              <a:t> 2023.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0231" y="4653258"/>
            <a:ext cx="4587875" cy="871219"/>
          </a:xfrm>
          <a:prstGeom prst="rect">
            <a:avLst/>
          </a:prstGeom>
        </p:spPr>
        <p:txBody>
          <a:bodyPr vert="horz" wrap="square" lIns="0" tIns="12700" rIns="0" bIns="0" rtlCol="0">
            <a:spAutoFit/>
          </a:bodyPr>
          <a:lstStyle/>
          <a:p>
            <a:pPr marL="12700">
              <a:lnSpc>
                <a:spcPct val="100000"/>
              </a:lnSpc>
              <a:spcBef>
                <a:spcPts val="100"/>
              </a:spcBef>
            </a:pPr>
            <a:r>
              <a:rPr sz="5550" dirty="0"/>
              <a:t>THANK </a:t>
            </a:r>
            <a:r>
              <a:rPr sz="5550" spc="-20" dirty="0"/>
              <a:t>YOU!</a:t>
            </a:r>
            <a:endParaRPr sz="55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710015" y="4549775"/>
            <a:ext cx="4867910" cy="1076960"/>
          </a:xfrm>
          <a:prstGeom prst="rect">
            <a:avLst/>
          </a:prstGeom>
        </p:spPr>
        <p:txBody>
          <a:bodyPr vert="horz" wrap="square" lIns="0" tIns="12700" rIns="0" bIns="0" rtlCol="0">
            <a:spAutoFit/>
          </a:bodyPr>
          <a:lstStyle/>
          <a:p>
            <a:pPr marL="12700">
              <a:lnSpc>
                <a:spcPct val="100000"/>
              </a:lnSpc>
              <a:spcBef>
                <a:spcPts val="100"/>
              </a:spcBef>
            </a:pPr>
            <a:r>
              <a:rPr sz="6900" b="0" dirty="0">
                <a:latin typeface="Times New Roman"/>
                <a:cs typeface="Times New Roman"/>
              </a:rPr>
              <a:t>Any</a:t>
            </a:r>
            <a:r>
              <a:rPr sz="6900" b="0" spc="-120" dirty="0">
                <a:latin typeface="Times New Roman"/>
                <a:cs typeface="Times New Roman"/>
              </a:rPr>
              <a:t> </a:t>
            </a:r>
            <a:r>
              <a:rPr sz="6900" b="0" spc="-10" dirty="0">
                <a:latin typeface="Times New Roman"/>
                <a:cs typeface="Times New Roman"/>
              </a:rPr>
              <a:t>Queries?</a:t>
            </a:r>
            <a:endParaRPr sz="69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TotalTime>
  <Words>1004</Words>
  <Application>Microsoft Office PowerPoint</Application>
  <PresentationFormat>Custom</PresentationFormat>
  <Paragraphs>148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Arial Nova</vt:lpstr>
      <vt:lpstr>Times New Roman</vt:lpstr>
      <vt:lpstr>Office Theme</vt:lpstr>
      <vt:lpstr>Department of Information Technology</vt:lpstr>
      <vt:lpstr>Intelligent Medical Image Analysis with  Automated Clinical Report Generation </vt:lpstr>
      <vt:lpstr>Abstract</vt:lpstr>
      <vt:lpstr>Introduction</vt:lpstr>
      <vt:lpstr>Literature Survey</vt:lpstr>
      <vt:lpstr>Existing System and Its Limitations</vt:lpstr>
      <vt:lpstr>Proposed Solution</vt:lpstr>
      <vt:lpstr>Proposed Methodology</vt:lpstr>
      <vt:lpstr>Implementation</vt:lpstr>
      <vt:lpstr>Implementation - 1: (Algorithms)</vt:lpstr>
      <vt:lpstr>Implementation - 2: (ScreenShots)</vt:lpstr>
      <vt:lpstr>Conclusion</vt:lpstr>
      <vt:lpstr>Future Enhancement</vt:lpstr>
      <vt:lpstr>References</vt:lpstr>
      <vt:lpstr>THANK YOU!</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technical seminar ppt.ppt</dc:title>
  <dc:creator>maktala bhavani</dc:creator>
  <cp:keywords>DAHQN5-lb_Q,BAFtL44LW-8</cp:keywords>
  <cp:lastModifiedBy>Hrushikesh Mateti</cp:lastModifiedBy>
  <cp:revision>1</cp:revision>
  <dcterms:created xsi:type="dcterms:W3CDTF">2026-07-31T16:52:50Z</dcterms:created>
  <dcterms:modified xsi:type="dcterms:W3CDTF">2026-07-31T18:52:38Z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2026-07-24T00:00:00Z</vt:filetime>
  </property>
  <property fmtid="{D5CDD505-2E9C-101B-9397-08002B2CF9AE}" pid="4" name="Creator">
    <vt:lpwstr>Canva</vt:lpwstr>
  </property>
  <property fmtid="{D5CDD505-2E9C-101B-9397-08002B2CF9AE}" pid="5" name="LastSaved">
    <vt:filetime>2026-07-31T00:00:00Z</vt:filetime>
  </property>
  <property fmtid="{D5CDD505-2E9C-101B-9397-08002B2CF9AE}" pid="6" name="Producer">
    <vt:lpwstr>Canva</vt:lpwstr>
  </property>
</Properties>
</file>